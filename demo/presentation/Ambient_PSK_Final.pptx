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6" d="100"/>
          <a:sy n="76" d="100"/>
        </p:scale>
        <p:origin x="91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8894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cold, no logo slide.</a:t>
            </a:r>
          </a:p>
          <a:p>
            <a:endParaRPr/>
          </a:p>
          <a:p>
            <a:r>
              <a:t>The behaviour has already changed. A customer who wants a score types it into a search box, sees it in half a second, and never opens a betting app. Every operator is fighting for a tap that increasingly does not need to happen.</a:t>
            </a:r>
          </a:p>
          <a:p>
            <a:endParaRPr/>
          </a:p>
          <a:p>
            <a:r>
              <a:t>Our starting position: we are not competing with other sportsbooks for that moment. We are competing with the phone's own surfaces — search, score apps, notifications. So that is where we should be.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left column first, one step at a time — this is today's journey and it ends in a dead end.</a:t>
            </a:r>
          </a:p>
          <a:p>
            <a:endParaRPr/>
          </a:p>
          <a:p>
            <a:r>
              <a:t>Then the right column. Same intent, but the answer is already on a surface they own, so the journey is two steps instead of four and it ends back with us.</a:t>
            </a:r>
          </a:p>
          <a:p>
            <a:endParaRPr/>
          </a:p>
          <a:p>
            <a:r>
              <a:t>Supporting numbers if asked: Android push click-through sits around 4.6%. At three to six pushes a day roughly 40% of users switch notifications off; at one a week it is closer to 10%. Targeted messages retain about 1.9 times better than broadcast — 39% vs 21% past eleven sessions.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hinge of the pitch. Say it and pause.</a:t>
            </a:r>
          </a:p>
          <a:p>
            <a:endParaRPr/>
          </a:p>
          <a:p>
            <a:r>
              <a:t>Note what we are NOT asking: how do we get more bets out of each customer. The brief scopes existing customers and retention, and every EU regulator is moving the same way — so the only honest lever left is relevance.</a:t>
            </a:r>
          </a:p>
          <a:p>
            <a:endParaRPr/>
          </a:p>
          <a:p>
            <a:r>
              <a:t>The chain is simple: more relevance leads to more interaction, more interaction creates more commercial opportunity. We quantify the last step at the end.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operator in our markets runs missions, XP and tiers. The mechanic works — that is not in dispute.</a:t>
            </a:r>
          </a:p>
          <a:p>
            <a:endParaRPr/>
          </a:p>
          <a:p>
            <a:r>
              <a:t>The difference is what sits at the end of it. They pay out in free bets, bonus funds, free spins and mystery boxes. Players then keep wagering to hold a tier, which is precisely the harm pattern regulators are naming: restricted in Romania, banned outright in the Netherlands and Belgium, and never lawful to an at-risk or self-excluded customer anywhere.</a:t>
            </a:r>
          </a:p>
          <a:p>
            <a:endParaRPr/>
          </a:p>
          <a:p>
            <a:r>
              <a:t>We keep the mechanic and change the currency to attention: status, identity and access. "Wager 50 euros this week" becomes "follow three teams". "Ten bets for Gold" becomes "check in on five live matches". A ten-euro free bet becomes a badge, your club's colours, or a match ticket.</a:t>
            </a:r>
          </a:p>
          <a:p>
            <a:endParaRPr/>
          </a:p>
          <a:p>
            <a:r>
              <a:t>Commercial upside beyond compliance: nothing here needs rebuilding when the next bonus ban lands.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food app never says "don't miss out". It notices that you order at two on a Thursday and says one short, human line at 1:58. No discount, no countdown, no pressure.</a:t>
            </a:r>
          </a:p>
          <a:p>
            <a:endParaRPr/>
          </a:p>
          <a:p>
            <a:r>
              <a:t>That is the whole insight, and it is portable: right person, right time, right message.</a:t>
            </a:r>
          </a:p>
          <a:p>
            <a:endParaRPr/>
          </a:p>
          <a:p>
            <a:r>
              <a:t>A betting app cannot copy the offer — but it can copy the manners. And unlike a food app, we have something even better than a habit to work from: a live match the customer already cares about.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surfaces, one engine.</a:t>
            </a:r>
          </a:p>
          <a:p>
            <a:endParaRPr/>
          </a:p>
          <a:p>
            <a:r>
              <a:t>One: a notification that is about their club, not our promotion. "Hajduk kick off in 40 minutes." No odds, no offer, no urgency language.</a:t>
            </a:r>
          </a:p>
          <a:p>
            <a:endParaRPr/>
          </a:p>
          <a:p>
            <a:r>
              <a:t>Two: a family of home-screen widgets — my club, while you were away, my season, my protection — themed in the colours of the team they follow.</a:t>
            </a:r>
          </a:p>
          <a:p>
            <a:endParaRPr/>
          </a:p>
          <a:p>
            <a:r>
              <a:t>Three: the lock screen. On Android 16 a live slip renders as a progress bar that updates as legs land. The customer follows the match without unlocking the phone.</a:t>
            </a:r>
          </a:p>
          <a:p>
            <a:endParaRPr/>
          </a:p>
          <a:p>
            <a:r>
              <a:t>Hard rule across all three: no stake, no odds, no returns, no balance ever appears on an OS surface. Money stays inside the app, behind the login.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build, same binary, three different products.</a:t>
            </a:r>
          </a:p>
          <a:p>
            <a:endParaRPr/>
          </a:p>
          <a:p>
            <a:r>
              <a:t>Following a club themes the widget and the live update — the crest, the club's colour as the accent, the club's fixtures in the idle state. It is cosmetic, it costs nothing at runtime, and it is the cheapest lever we have on widget adoption, which the brief names as a metric.</a:t>
            </a:r>
          </a:p>
          <a:p>
            <a:endParaRPr/>
          </a:p>
          <a:p>
            <a:r>
              <a:t>Identity beats incentive: a customer who has themed their home screen around their club has made the app part of who they are. No bonus buys that.</a:t>
            </a:r>
          </a:p>
          <a:p>
            <a:endParaRPr/>
          </a:p>
          <a:p>
            <a:r>
              <a:t>Note we bundle no club logos — initials and colours only, so there is no licensing exposure.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conceptual on the slide; the depth belongs here.</a:t>
            </a:r>
          </a:p>
          <a:p>
            <a:endParaRPr/>
          </a:p>
          <a:p>
            <a:r>
              <a:t>Everything that decides what to say, and when, runs inside the app on the phone. Behaviour signals — which clubs you follow, which matches you check, what time you look — build a local profile that never leaves the device. A small on-device language model turns the chosen moment into one human sentence. The customer's response feeds straight back into the same local model.</a:t>
            </a:r>
          </a:p>
          <a:p>
            <a:endParaRPr/>
          </a:p>
          <a:p>
            <a:r>
              <a:t>Implementation, if asked: Android ML tooling — ML Kit's on-device GenAI API where the device supports it, with a LiteRT-packaged small model as the fallback and deterministic templates below that, so the app always has a voice. No API key, no inference server, no per-message cost, and it works offline.</a:t>
            </a:r>
          </a:p>
          <a:p>
            <a:endParaRPr/>
          </a:p>
          <a:p>
            <a:r>
              <a:t>Why it matters commercially as well as legally: personalisation with no personal data transfer is defensible under GDPR Article 25 by design, and it means our per-message cost is zero at any scale.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 competitors are not building, and it is where the originality score lives.</a:t>
            </a:r>
          </a:p>
          <a:p>
            <a:endParaRPr/>
          </a:p>
          <a:p>
            <a:r>
              <a:t>Under the hood it is a contextual bandit running on the device. Roughly fifty combinations of surface, tone and timing; Thompson sampling picks one; two numbers per option get updated from what the customer actually did. After about twenty interactions it has stopped guessing for that individual.</a:t>
            </a:r>
          </a:p>
          <a:p>
            <a:endParaRPr/>
          </a:p>
          <a:p>
            <a:r>
              <a:t>The unusual design decision is the reward table. Opening the app scores +1. Being ignored scores -0.3. Being muted scores -1. And correctly choosing to stay silent scores +0.5.</a:t>
            </a:r>
          </a:p>
          <a:p>
            <a:endParaRPr/>
          </a:p>
          <a:p>
            <a:r>
              <a:t>That single line changes the incentive of the whole system. Most engagement models are only ever paid for speaking, which is why they get louder over time. Ours is paid for restraint, so message volume falls while relevance rises — and notification permission, which everything else depends on, survives.</a:t>
            </a:r>
          </a:p>
          <a:p>
            <a:endParaRPr/>
          </a:p>
          <a:p>
            <a:r>
              <a:t>Measurable in A/B: we expect a 20-30% relative lift in tap-through after twenty interactions versus fixed routing. The ledger that records arm and reward is the analytics.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 loyalty. Missions, badges, levels and perks: the same mechanic every competitor runs, with the currency changed. Progress is counted in attention, never in money, so it cannot become an inducement. Perks are merchandise, early access and match tickets — never free bets or bonus credit. One of the missions is "set a deposit limit", which earns a badge like any other.</a:t>
            </a:r>
          </a:p>
          <a:p>
            <a:endParaRPr/>
          </a:p>
          <a:p>
            <a:r>
              <a:t>Right — retail. PSK already ships a barcode scanner in the app; we did not rebuild it, we gave its output somewhere to go. Scan the slip from the shop and it starts tracking on the lock screen — no deposit, no account top-up, and the app never needs opening again.</a:t>
            </a:r>
          </a:p>
          <a:p>
            <a:endParaRPr/>
          </a:p>
          <a:p>
            <a:r>
              <a:t>This is the only mechanic here that pulls a retail-only customer into the digital estate, and it costs nothing to acquire them. Even 5% of retail slips scanned is a bridge that does not exist today.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numbers only. All three are illustrative and built on stated assumptions — say that out loud.</a:t>
            </a:r>
          </a:p>
          <a:p>
            <a:endParaRPr/>
          </a:p>
          <a:p>
            <a:r>
              <a:t>Base: FEG reports roughly 1.3 million active players; assume half are app users, so about 650k app MAU.</a:t>
            </a:r>
          </a:p>
          <a:p>
            <a:endParaRPr/>
          </a:p>
          <a:p>
            <a:r>
              <a:t>One. Daily actives. If 30% of monthly actives are reached by a surface in a given week and each gains one extra active day, DAU/MAU moves from 25% to 29.3% — about +28k incremental daily actives, a 17% relative lift. The conservative case is 15% reach and half a day, which still gives +7k.</a:t>
            </a:r>
          </a:p>
          <a:p>
            <a:endParaRPr/>
          </a:p>
          <a:p>
            <a:r>
              <a:t>Two. Notification to app open. The public Android benchmark is 4.6%. A live update about the customer's own slip is status about something they own — flight-tracker behaviour — so we model 20-30%. There is no public sportsbook benchmark for this; it is the first thing we would A/B test.</a:t>
            </a:r>
          </a:p>
          <a:p>
            <a:endParaRPr/>
          </a:p>
          <a:p>
            <a:r>
              <a:t>Three. Widget adoption. 6% at 90 days conservative, 12% base case, on Android monthly actives. Club theming is the cheapest lever on this number.</a:t>
            </a:r>
          </a:p>
          <a:p>
            <a:endParaRPr/>
          </a:p>
          <a:p>
            <a:r>
              <a:t>The value formula is incremental retained users times ARPU, minus cost. We deliberately do not claim more betting per customer — the value is retention and reactivation of existing customers, which is exactly what the brief scopes. And because the AI runs on the device, the marginal cost per message is zero.</a:t>
            </a:r>
          </a:p>
          <a:p>
            <a:endParaRPr/>
          </a:p>
          <a:p>
            <a:r>
              <a:t>Close on the line and stop talking.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youtu.be/aLRzElPIAgY"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FEG INNOVATION HACKATHON 2026   ·   CHALLENGE 2   ·   PSK</a:t>
            </a:r>
          </a:p>
        </p:txBody>
      </p:sp>
      <p:sp>
        <p:nvSpPr>
          <p:cNvPr id="4" name="TextBox 3"/>
          <p:cNvSpPr txBox="1"/>
          <p:nvPr/>
        </p:nvSpPr>
        <p:spPr>
          <a:xfrm>
            <a:off x="868680" y="1298448"/>
            <a:ext cx="6400800" cy="2743200"/>
          </a:xfrm>
          <a:prstGeom prst="rect">
            <a:avLst/>
          </a:prstGeom>
          <a:noFill/>
        </p:spPr>
        <p:txBody>
          <a:bodyPr wrap="square" lIns="0" tIns="0" rIns="0" bIns="0" anchor="t">
            <a:spAutoFit/>
          </a:bodyPr>
          <a:lstStyle/>
          <a:p>
            <a:pPr algn="l">
              <a:lnSpc>
                <a:spcPct val="106000"/>
              </a:lnSpc>
            </a:pPr>
            <a:r>
              <a:rPr sz="4500" b="1" spc="-140">
                <a:solidFill>
                  <a:srgbClr val="0B0D12"/>
                </a:solidFill>
                <a:latin typeface="Segoe UI"/>
              </a:rPr>
              <a:t>THE USER</a:t>
            </a:r>
          </a:p>
          <a:p>
            <a:pPr algn="l">
              <a:lnSpc>
                <a:spcPct val="106000"/>
              </a:lnSpc>
            </a:pPr>
            <a:r>
              <a:rPr sz="4500" b="1" spc="-140">
                <a:solidFill>
                  <a:srgbClr val="0B0D12"/>
                </a:solidFill>
                <a:latin typeface="Segoe UI"/>
              </a:rPr>
              <a:t>DOESN'T HAVE TO</a:t>
            </a:r>
          </a:p>
          <a:p>
            <a:pPr algn="l">
              <a:lnSpc>
                <a:spcPct val="106000"/>
              </a:lnSpc>
            </a:pPr>
            <a:r>
              <a:rPr sz="4500" b="1" spc="-140">
                <a:solidFill>
                  <a:srgbClr val="0B0D12"/>
                </a:solidFill>
                <a:latin typeface="Segoe UI"/>
              </a:rPr>
              <a:t>OPEN US ANYMORE.</a:t>
            </a:r>
          </a:p>
        </p:txBody>
      </p:sp>
      <p:sp>
        <p:nvSpPr>
          <p:cNvPr id="5" name="TextBox 4"/>
          <p:cNvSpPr txBox="1"/>
          <p:nvPr/>
        </p:nvSpPr>
        <p:spPr>
          <a:xfrm>
            <a:off x="868680" y="3913632"/>
            <a:ext cx="6035040" cy="1097280"/>
          </a:xfrm>
          <a:prstGeom prst="rect">
            <a:avLst/>
          </a:prstGeom>
          <a:noFill/>
        </p:spPr>
        <p:txBody>
          <a:bodyPr wrap="square" lIns="0" tIns="0" rIns="0" bIns="0" anchor="t">
            <a:spAutoFit/>
          </a:bodyPr>
          <a:lstStyle/>
          <a:p>
            <a:pPr algn="l">
              <a:lnSpc>
                <a:spcPct val="140000"/>
              </a:lnSpc>
            </a:pPr>
            <a:r>
              <a:rPr sz="1700" b="0">
                <a:solidFill>
                  <a:srgbClr val="6B7280"/>
                </a:solidFill>
                <a:latin typeface="Segoe UI"/>
              </a:rPr>
              <a:t>The information they want is already everywhere.</a:t>
            </a:r>
          </a:p>
        </p:txBody>
      </p:sp>
      <p:sp>
        <p:nvSpPr>
          <p:cNvPr id="6" name="Rounded Rectangle 5"/>
          <p:cNvSpPr/>
          <p:nvPr/>
        </p:nvSpPr>
        <p:spPr>
          <a:xfrm>
            <a:off x="868680" y="4709160"/>
            <a:ext cx="1188720" cy="420624"/>
          </a:xfrm>
          <a:prstGeom prst="roundRect">
            <a:avLst>
              <a:gd name="adj" fmla="val 5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2B3039"/>
                </a:solidFill>
                <a:latin typeface="Segoe UI"/>
              </a:rPr>
              <a:t>Search</a:t>
            </a:r>
          </a:p>
        </p:txBody>
      </p:sp>
      <p:sp>
        <p:nvSpPr>
          <p:cNvPr id="7" name="Rounded Rectangle 6"/>
          <p:cNvSpPr/>
          <p:nvPr/>
        </p:nvSpPr>
        <p:spPr>
          <a:xfrm>
            <a:off x="2203704" y="4709160"/>
            <a:ext cx="1481328" cy="420624"/>
          </a:xfrm>
          <a:prstGeom prst="roundRect">
            <a:avLst>
              <a:gd name="adj" fmla="val 5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2B3039"/>
                </a:solidFill>
                <a:latin typeface="Segoe UI"/>
              </a:rPr>
              <a:t>Score apps</a:t>
            </a:r>
          </a:p>
        </p:txBody>
      </p:sp>
      <p:sp>
        <p:nvSpPr>
          <p:cNvPr id="8" name="Rounded Rectangle 7"/>
          <p:cNvSpPr/>
          <p:nvPr/>
        </p:nvSpPr>
        <p:spPr>
          <a:xfrm>
            <a:off x="3831336" y="4709160"/>
            <a:ext cx="1143000" cy="420624"/>
          </a:xfrm>
          <a:prstGeom prst="roundRect">
            <a:avLst>
              <a:gd name="adj" fmla="val 5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2B3039"/>
                </a:solidFill>
                <a:latin typeface="Segoe UI"/>
              </a:rPr>
              <a:t>Social</a:t>
            </a:r>
          </a:p>
        </p:txBody>
      </p:sp>
      <p:sp>
        <p:nvSpPr>
          <p:cNvPr id="9" name="Rounded Rectangle 8"/>
          <p:cNvSpPr/>
          <p:nvPr/>
        </p:nvSpPr>
        <p:spPr>
          <a:xfrm>
            <a:off x="5120640" y="4709160"/>
            <a:ext cx="1691640" cy="420624"/>
          </a:xfrm>
          <a:prstGeom prst="roundRect">
            <a:avLst>
              <a:gd name="adj" fmla="val 5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2B3039"/>
                </a:solidFill>
                <a:latin typeface="Segoe UI"/>
              </a:rPr>
              <a:t>Notifications</a:t>
            </a:r>
          </a:p>
        </p:txBody>
      </p:sp>
      <p:sp>
        <p:nvSpPr>
          <p:cNvPr id="10" name="Rounded Rectangle 9"/>
          <p:cNvSpPr/>
          <p:nvPr/>
        </p:nvSpPr>
        <p:spPr>
          <a:xfrm>
            <a:off x="868680" y="5413248"/>
            <a:ext cx="1965960" cy="420624"/>
          </a:xfrm>
          <a:prstGeom prst="roundRect">
            <a:avLst>
              <a:gd name="adj" fmla="val 5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A3A9B4"/>
                </a:solidFill>
                <a:latin typeface="Segoe UI"/>
              </a:rPr>
              <a:t>PSK app</a:t>
            </a:r>
          </a:p>
        </p:txBody>
      </p:sp>
      <p:sp>
        <p:nvSpPr>
          <p:cNvPr id="11" name="TextBox 10"/>
          <p:cNvSpPr txBox="1"/>
          <p:nvPr/>
        </p:nvSpPr>
        <p:spPr>
          <a:xfrm>
            <a:off x="2944368" y="5468112"/>
            <a:ext cx="2743200" cy="310896"/>
          </a:xfrm>
          <a:prstGeom prst="rect">
            <a:avLst/>
          </a:prstGeom>
          <a:noFill/>
        </p:spPr>
        <p:txBody>
          <a:bodyPr wrap="square" lIns="0" tIns="0" rIns="0" bIns="0" anchor="t">
            <a:spAutoFit/>
          </a:bodyPr>
          <a:lstStyle/>
          <a:p>
            <a:pPr algn="l">
              <a:lnSpc>
                <a:spcPct val="125000"/>
              </a:lnSpc>
            </a:pPr>
            <a:r>
              <a:rPr sz="1150" b="0">
                <a:solidFill>
                  <a:srgbClr val="A3A9B4"/>
                </a:solidFill>
                <a:latin typeface="Segoe UI"/>
              </a:rPr>
              <a:t>not opened</a:t>
            </a:r>
          </a:p>
        </p:txBody>
      </p:sp>
      <p:pic>
        <p:nvPicPr>
          <p:cNvPr id="12" name="Picture 11" descr="search.png"/>
          <p:cNvPicPr>
            <a:picLocks noChangeAspect="1"/>
          </p:cNvPicPr>
          <p:nvPr/>
        </p:nvPicPr>
        <p:blipFill>
          <a:blip r:embed="rId3"/>
          <a:stretch>
            <a:fillRect/>
          </a:stretch>
        </p:blipFill>
        <p:spPr>
          <a:xfrm>
            <a:off x="7360920" y="274320"/>
            <a:ext cx="4487690" cy="68122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2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2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20"/>
                                        <p:tgtEl>
                                          <p:spTgt spid="6"/>
                                        </p:tgtEl>
                                      </p:cBhvr>
                                    </p:animEffect>
                                  </p:childTnLst>
                                </p:cTn>
                              </p:par>
                              <p:par>
                                <p:cTn id="18" presetID="10" presetClass="entr" presetSubtype="0" fill="hold" nodeType="afterEffect">
                                  <p:stCondLst>
                                    <p:cond delay="26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20"/>
                                        <p:tgtEl>
                                          <p:spTgt spid="7"/>
                                        </p:tgtEl>
                                      </p:cBhvr>
                                    </p:animEffect>
                                  </p:childTnLst>
                                </p:cTn>
                              </p:par>
                              <p:par>
                                <p:cTn id="21" presetID="10" presetClass="entr" presetSubtype="0" fill="hold" nodeType="afterEffect">
                                  <p:stCondLst>
                                    <p:cond delay="26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20"/>
                                        <p:tgtEl>
                                          <p:spTgt spid="8"/>
                                        </p:tgtEl>
                                      </p:cBhvr>
                                    </p:animEffect>
                                  </p:childTnLst>
                                </p:cTn>
                              </p:par>
                              <p:par>
                                <p:cTn id="24" presetID="10" presetClass="entr" presetSubtype="0" fill="hold" nodeType="afterEffect">
                                  <p:stCondLst>
                                    <p:cond delay="26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2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20"/>
                                        <p:tgtEl>
                                          <p:spTgt spid="10"/>
                                        </p:tgtEl>
                                      </p:cBhvr>
                                    </p:animEffect>
                                  </p:childTnLst>
                                </p:cTn>
                              </p:par>
                              <p:par>
                                <p:cTn id="32" presetID="10" presetClass="entr" presetSubtype="0" fill="hold" nodeType="afterEffect">
                                  <p:stCondLst>
                                    <p:cond delay="2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THE PROBLEM</a:t>
            </a:r>
          </a:p>
        </p:txBody>
      </p:sp>
      <p:sp>
        <p:nvSpPr>
          <p:cNvPr id="4" name="TextBox 3"/>
          <p:cNvSpPr txBox="1"/>
          <p:nvPr/>
        </p:nvSpPr>
        <p:spPr>
          <a:xfrm>
            <a:off x="868680" y="1024128"/>
            <a:ext cx="10515600" cy="2743200"/>
          </a:xfrm>
          <a:prstGeom prst="rect">
            <a:avLst/>
          </a:prstGeom>
          <a:noFill/>
        </p:spPr>
        <p:txBody>
          <a:bodyPr wrap="square" lIns="0" tIns="0" rIns="0" bIns="0" anchor="t">
            <a:spAutoFit/>
          </a:bodyPr>
          <a:lstStyle/>
          <a:p>
            <a:pPr algn="l">
              <a:lnSpc>
                <a:spcPct val="106000"/>
              </a:lnSpc>
            </a:pPr>
            <a:r>
              <a:rPr sz="3400" b="1" spc="-80">
                <a:solidFill>
                  <a:srgbClr val="0B0D12"/>
                </a:solidFill>
                <a:latin typeface="Segoe UI"/>
              </a:rPr>
              <a:t>WE DELIVER INFORMATION.</a:t>
            </a:r>
          </a:p>
          <a:p>
            <a:pPr algn="l">
              <a:lnSpc>
                <a:spcPct val="106000"/>
              </a:lnSpc>
            </a:pPr>
            <a:r>
              <a:rPr sz="3400" b="1" spc="-80">
                <a:solidFill>
                  <a:srgbClr val="0B0D12"/>
                </a:solidFill>
                <a:latin typeface="Segoe UI"/>
              </a:rPr>
              <a:t>THEY GET IT SOMEWHERE ELSE.</a:t>
            </a:r>
          </a:p>
        </p:txBody>
      </p:sp>
      <p:sp>
        <p:nvSpPr>
          <p:cNvPr id="5" name="TextBox 4"/>
          <p:cNvSpPr txBox="1"/>
          <p:nvPr/>
        </p:nvSpPr>
        <p:spPr>
          <a:xfrm>
            <a:off x="1234440" y="2395728"/>
            <a:ext cx="3840480" cy="274320"/>
          </a:xfrm>
          <a:prstGeom prst="rect">
            <a:avLst/>
          </a:prstGeom>
          <a:noFill/>
        </p:spPr>
        <p:txBody>
          <a:bodyPr wrap="square" lIns="0" tIns="0" rIns="0" bIns="0" anchor="t">
            <a:spAutoFit/>
          </a:bodyPr>
          <a:lstStyle/>
          <a:p>
            <a:pPr algn="l">
              <a:lnSpc>
                <a:spcPct val="125000"/>
              </a:lnSpc>
            </a:pPr>
            <a:r>
              <a:rPr sz="1100" b="1" spc="170">
                <a:solidFill>
                  <a:srgbClr val="A3A9B4"/>
                </a:solidFill>
                <a:latin typeface="Segoe UI"/>
              </a:rPr>
              <a:t>TODAY</a:t>
            </a:r>
          </a:p>
        </p:txBody>
      </p:sp>
      <p:sp>
        <p:nvSpPr>
          <p:cNvPr id="6" name="TextBox 5"/>
          <p:cNvSpPr txBox="1"/>
          <p:nvPr/>
        </p:nvSpPr>
        <p:spPr>
          <a:xfrm>
            <a:off x="6720840" y="2395728"/>
            <a:ext cx="3840480" cy="274320"/>
          </a:xfrm>
          <a:prstGeom prst="rect">
            <a:avLst/>
          </a:prstGeom>
          <a:noFill/>
        </p:spPr>
        <p:txBody>
          <a:bodyPr wrap="square" lIns="0" tIns="0" rIns="0" bIns="0" anchor="t">
            <a:spAutoFit/>
          </a:bodyPr>
          <a:lstStyle/>
          <a:p>
            <a:pPr algn="l">
              <a:lnSpc>
                <a:spcPct val="125000"/>
              </a:lnSpc>
            </a:pPr>
            <a:r>
              <a:rPr sz="1100" b="1" spc="170">
                <a:solidFill>
                  <a:srgbClr val="1F5BD1"/>
                </a:solidFill>
                <a:latin typeface="Segoe UI"/>
              </a:rPr>
              <a:t>WITH AMBIENT</a:t>
            </a:r>
          </a:p>
        </p:txBody>
      </p:sp>
      <p:sp>
        <p:nvSpPr>
          <p:cNvPr id="7" name="Rounded Rectangle 6"/>
          <p:cNvSpPr/>
          <p:nvPr/>
        </p:nvSpPr>
        <p:spPr>
          <a:xfrm>
            <a:off x="1234440" y="2816352"/>
            <a:ext cx="3703320" cy="566928"/>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45336" y="2990088"/>
            <a:ext cx="3200400" cy="274320"/>
          </a:xfrm>
          <a:prstGeom prst="rect">
            <a:avLst/>
          </a:prstGeom>
          <a:noFill/>
        </p:spPr>
        <p:txBody>
          <a:bodyPr wrap="square" lIns="0" tIns="0" rIns="0" bIns="0" anchor="t">
            <a:spAutoFit/>
          </a:bodyPr>
          <a:lstStyle/>
          <a:p>
            <a:pPr algn="l">
              <a:lnSpc>
                <a:spcPct val="125000"/>
              </a:lnSpc>
            </a:pPr>
            <a:r>
              <a:rPr sz="1350" b="0">
                <a:solidFill>
                  <a:srgbClr val="2B3039"/>
                </a:solidFill>
                <a:latin typeface="Segoe UI"/>
              </a:rPr>
              <a:t>They want the score</a:t>
            </a:r>
          </a:p>
        </p:txBody>
      </p:sp>
      <p:sp>
        <p:nvSpPr>
          <p:cNvPr id="9" name="Rounded Rectangle 8"/>
          <p:cNvSpPr/>
          <p:nvPr/>
        </p:nvSpPr>
        <p:spPr>
          <a:xfrm>
            <a:off x="6720840" y="2816352"/>
            <a:ext cx="37033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31736" y="2990088"/>
            <a:ext cx="3200400" cy="274320"/>
          </a:xfrm>
          <a:prstGeom prst="rect">
            <a:avLst/>
          </a:prstGeom>
          <a:noFill/>
        </p:spPr>
        <p:txBody>
          <a:bodyPr wrap="square" lIns="0" tIns="0" rIns="0" bIns="0" anchor="t">
            <a:spAutoFit/>
          </a:bodyPr>
          <a:lstStyle/>
          <a:p>
            <a:pPr algn="l">
              <a:lnSpc>
                <a:spcPct val="125000"/>
              </a:lnSpc>
            </a:pPr>
            <a:r>
              <a:rPr sz="1350" b="0">
                <a:solidFill>
                  <a:srgbClr val="2B3039"/>
                </a:solidFill>
                <a:latin typeface="Segoe UI"/>
              </a:rPr>
              <a:t>They want the score</a:t>
            </a:r>
          </a:p>
        </p:txBody>
      </p:sp>
      <p:sp>
        <p:nvSpPr>
          <p:cNvPr id="11" name="Down Arrow 10"/>
          <p:cNvSpPr/>
          <p:nvPr/>
        </p:nvSpPr>
        <p:spPr>
          <a:xfrm>
            <a:off x="2971800" y="3474720"/>
            <a:ext cx="237744" cy="201168"/>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11"/>
          <p:cNvSpPr/>
          <p:nvPr/>
        </p:nvSpPr>
        <p:spPr>
          <a:xfrm>
            <a:off x="8458200" y="3474720"/>
            <a:ext cx="237744" cy="201168"/>
          </a:xfrm>
          <a:prstGeom prst="downArrow">
            <a:avLst/>
          </a:prstGeom>
          <a:solidFill>
            <a:srgbClr val="C5D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234440" y="3712464"/>
            <a:ext cx="3703320" cy="566928"/>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45336" y="3886200"/>
            <a:ext cx="3200400" cy="274320"/>
          </a:xfrm>
          <a:prstGeom prst="rect">
            <a:avLst/>
          </a:prstGeom>
          <a:noFill/>
        </p:spPr>
        <p:txBody>
          <a:bodyPr wrap="square" lIns="0" tIns="0" rIns="0" bIns="0" anchor="t">
            <a:spAutoFit/>
          </a:bodyPr>
          <a:lstStyle/>
          <a:p>
            <a:pPr algn="l">
              <a:lnSpc>
                <a:spcPct val="125000"/>
              </a:lnSpc>
            </a:pPr>
            <a:r>
              <a:rPr sz="1350" b="0">
                <a:solidFill>
                  <a:srgbClr val="2B3039"/>
                </a:solidFill>
                <a:latin typeface="Segoe UI"/>
              </a:rPr>
              <a:t>They search for it</a:t>
            </a:r>
          </a:p>
        </p:txBody>
      </p:sp>
      <p:sp>
        <p:nvSpPr>
          <p:cNvPr id="15" name="Rounded Rectangle 14"/>
          <p:cNvSpPr/>
          <p:nvPr/>
        </p:nvSpPr>
        <p:spPr>
          <a:xfrm>
            <a:off x="6720840" y="3712464"/>
            <a:ext cx="37033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31736" y="3886200"/>
            <a:ext cx="3200400" cy="274320"/>
          </a:xfrm>
          <a:prstGeom prst="rect">
            <a:avLst/>
          </a:prstGeom>
          <a:noFill/>
        </p:spPr>
        <p:txBody>
          <a:bodyPr wrap="square" lIns="0" tIns="0" rIns="0" bIns="0" anchor="t">
            <a:spAutoFit/>
          </a:bodyPr>
          <a:lstStyle/>
          <a:p>
            <a:pPr algn="l">
              <a:lnSpc>
                <a:spcPct val="125000"/>
              </a:lnSpc>
            </a:pPr>
            <a:r>
              <a:rPr sz="1350" b="0">
                <a:solidFill>
                  <a:srgbClr val="2B3039"/>
                </a:solidFill>
                <a:latin typeface="Segoe UI"/>
              </a:rPr>
              <a:t>It is already on their screen</a:t>
            </a:r>
          </a:p>
        </p:txBody>
      </p:sp>
      <p:sp>
        <p:nvSpPr>
          <p:cNvPr id="17" name="Down Arrow 16"/>
          <p:cNvSpPr/>
          <p:nvPr/>
        </p:nvSpPr>
        <p:spPr>
          <a:xfrm>
            <a:off x="2971800" y="4370832"/>
            <a:ext cx="237744" cy="201168"/>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wn Arrow 17"/>
          <p:cNvSpPr/>
          <p:nvPr/>
        </p:nvSpPr>
        <p:spPr>
          <a:xfrm>
            <a:off x="8458200" y="4370832"/>
            <a:ext cx="237744" cy="201168"/>
          </a:xfrm>
          <a:prstGeom prst="downArrow">
            <a:avLst/>
          </a:prstGeom>
          <a:solidFill>
            <a:srgbClr val="C5D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234440" y="4608576"/>
            <a:ext cx="3703320" cy="566928"/>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45336" y="4782312"/>
            <a:ext cx="3200400" cy="274320"/>
          </a:xfrm>
          <a:prstGeom prst="rect">
            <a:avLst/>
          </a:prstGeom>
          <a:noFill/>
        </p:spPr>
        <p:txBody>
          <a:bodyPr wrap="square" lIns="0" tIns="0" rIns="0" bIns="0" anchor="t">
            <a:spAutoFit/>
          </a:bodyPr>
          <a:lstStyle/>
          <a:p>
            <a:pPr algn="l">
              <a:lnSpc>
                <a:spcPct val="125000"/>
              </a:lnSpc>
            </a:pPr>
            <a:r>
              <a:rPr sz="1350" b="0">
                <a:solidFill>
                  <a:srgbClr val="2B3039"/>
                </a:solidFill>
                <a:latin typeface="Segoe UI"/>
              </a:rPr>
              <a:t>They get the answer</a:t>
            </a:r>
          </a:p>
        </p:txBody>
      </p:sp>
      <p:sp>
        <p:nvSpPr>
          <p:cNvPr id="21" name="Rounded Rectangle 20"/>
          <p:cNvSpPr/>
          <p:nvPr/>
        </p:nvSpPr>
        <p:spPr>
          <a:xfrm>
            <a:off x="6720840" y="4608576"/>
            <a:ext cx="37033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31736" y="4782312"/>
            <a:ext cx="3200400" cy="274320"/>
          </a:xfrm>
          <a:prstGeom prst="rect">
            <a:avLst/>
          </a:prstGeom>
          <a:noFill/>
        </p:spPr>
        <p:txBody>
          <a:bodyPr wrap="square" lIns="0" tIns="0" rIns="0" bIns="0" anchor="t">
            <a:spAutoFit/>
          </a:bodyPr>
          <a:lstStyle/>
          <a:p>
            <a:pPr algn="l">
              <a:lnSpc>
                <a:spcPct val="125000"/>
              </a:lnSpc>
            </a:pPr>
            <a:r>
              <a:rPr sz="1350" b="0">
                <a:solidFill>
                  <a:srgbClr val="2B3039"/>
                </a:solidFill>
                <a:latin typeface="Segoe UI"/>
              </a:rPr>
              <a:t>Widget · lock screen</a:t>
            </a:r>
          </a:p>
        </p:txBody>
      </p:sp>
      <p:sp>
        <p:nvSpPr>
          <p:cNvPr id="23" name="Down Arrow 22"/>
          <p:cNvSpPr/>
          <p:nvPr/>
        </p:nvSpPr>
        <p:spPr>
          <a:xfrm>
            <a:off x="2971800" y="5266944"/>
            <a:ext cx="237744" cy="201168"/>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23"/>
          <p:cNvSpPr/>
          <p:nvPr/>
        </p:nvSpPr>
        <p:spPr>
          <a:xfrm>
            <a:off x="8458200" y="5266944"/>
            <a:ext cx="237744" cy="201168"/>
          </a:xfrm>
          <a:prstGeom prst="downArrow">
            <a:avLst/>
          </a:prstGeom>
          <a:solidFill>
            <a:srgbClr val="C5D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234440" y="5504688"/>
            <a:ext cx="37033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45336" y="5678424"/>
            <a:ext cx="3200400" cy="274320"/>
          </a:xfrm>
          <a:prstGeom prst="rect">
            <a:avLst/>
          </a:prstGeom>
          <a:noFill/>
        </p:spPr>
        <p:txBody>
          <a:bodyPr wrap="square" lIns="0" tIns="0" rIns="0" bIns="0" anchor="t">
            <a:spAutoFit/>
          </a:bodyPr>
          <a:lstStyle/>
          <a:p>
            <a:pPr algn="l">
              <a:lnSpc>
                <a:spcPct val="125000"/>
              </a:lnSpc>
            </a:pPr>
            <a:r>
              <a:rPr sz="1350" b="1">
                <a:solidFill>
                  <a:srgbClr val="A3A9B4"/>
                </a:solidFill>
                <a:latin typeface="Segoe UI"/>
              </a:rPr>
              <a:t>The app never opens</a:t>
            </a:r>
          </a:p>
        </p:txBody>
      </p:sp>
      <p:sp>
        <p:nvSpPr>
          <p:cNvPr id="27" name="Rounded Rectangle 26"/>
          <p:cNvSpPr/>
          <p:nvPr/>
        </p:nvSpPr>
        <p:spPr>
          <a:xfrm>
            <a:off x="6720840" y="5504688"/>
            <a:ext cx="3703320" cy="566928"/>
          </a:xfrm>
          <a:prstGeom prst="roundRect">
            <a:avLst>
              <a:gd name="adj" fmla="val 10000"/>
            </a:avLst>
          </a:prstGeom>
          <a:solidFill>
            <a:srgbClr val="E9F0FD"/>
          </a:solidFill>
          <a:ln w="12700">
            <a:solidFill>
              <a:srgbClr val="C5D8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31736" y="5678424"/>
            <a:ext cx="3200400" cy="274320"/>
          </a:xfrm>
          <a:prstGeom prst="rect">
            <a:avLst/>
          </a:prstGeom>
          <a:noFill/>
        </p:spPr>
        <p:txBody>
          <a:bodyPr wrap="square" lIns="0" tIns="0" rIns="0" bIns="0" anchor="t">
            <a:spAutoFit/>
          </a:bodyPr>
          <a:lstStyle/>
          <a:p>
            <a:pPr algn="l">
              <a:lnSpc>
                <a:spcPct val="125000"/>
              </a:lnSpc>
            </a:pPr>
            <a:r>
              <a:rPr sz="1350" b="1">
                <a:solidFill>
                  <a:srgbClr val="1F5BD1"/>
                </a:solidFill>
                <a:latin typeface="Segoe UI"/>
              </a:rPr>
              <a:t>They come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80"/>
                                        <p:tgtEl>
                                          <p:spTgt spid="7"/>
                                        </p:tgtEl>
                                      </p:cBhvr>
                                    </p:animEffect>
                                  </p:childTnLst>
                                </p:cTn>
                              </p:par>
                              <p:par>
                                <p:cTn id="8" presetID="10" presetClass="entr" presetSubtype="0" fill="hold" nodeType="afterEffect">
                                  <p:stCondLst>
                                    <p:cond delay="12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80"/>
                                        <p:tgtEl>
                                          <p:spTgt spid="8"/>
                                        </p:tgtEl>
                                      </p:cBhvr>
                                    </p:animEffect>
                                  </p:childTnLst>
                                </p:cTn>
                              </p:par>
                              <p:par>
                                <p:cTn id="11" presetID="10" presetClass="entr" presetSubtype="0" fill="hold" nodeType="afterEffect">
                                  <p:stCondLst>
                                    <p:cond delay="12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8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380"/>
                                        <p:tgtEl>
                                          <p:spTgt spid="13"/>
                                        </p:tgtEl>
                                      </p:cBhvr>
                                    </p:animEffect>
                                  </p:childTnLst>
                                </p:cTn>
                              </p:par>
                              <p:par>
                                <p:cTn id="19" presetID="10" presetClass="entr" presetSubtype="0" fill="hold" nodeType="afterEffect">
                                  <p:stCondLst>
                                    <p:cond delay="12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380"/>
                                        <p:tgtEl>
                                          <p:spTgt spid="14"/>
                                        </p:tgtEl>
                                      </p:cBhvr>
                                    </p:animEffect>
                                  </p:childTnLst>
                                </p:cTn>
                              </p:par>
                              <p:par>
                                <p:cTn id="22" presetID="10" presetClass="entr" presetSubtype="0" fill="hold" nodeType="afterEffect">
                                  <p:stCondLst>
                                    <p:cond delay="12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38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380"/>
                                        <p:tgtEl>
                                          <p:spTgt spid="19"/>
                                        </p:tgtEl>
                                      </p:cBhvr>
                                    </p:animEffect>
                                  </p:childTnLst>
                                </p:cTn>
                              </p:par>
                              <p:par>
                                <p:cTn id="30" presetID="10" presetClass="entr" presetSubtype="0" fill="hold" nodeType="afterEffect">
                                  <p:stCondLst>
                                    <p:cond delay="12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80"/>
                                        <p:tgtEl>
                                          <p:spTgt spid="20"/>
                                        </p:tgtEl>
                                      </p:cBhvr>
                                    </p:animEffect>
                                  </p:childTnLst>
                                </p:cTn>
                              </p:par>
                              <p:par>
                                <p:cTn id="33" presetID="10" presetClass="entr" presetSubtype="0" fill="hold" nodeType="afterEffect">
                                  <p:stCondLst>
                                    <p:cond delay="12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38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80"/>
                                        <p:tgtEl>
                                          <p:spTgt spid="25"/>
                                        </p:tgtEl>
                                      </p:cBhvr>
                                    </p:animEffect>
                                  </p:childTnLst>
                                </p:cTn>
                              </p:par>
                              <p:par>
                                <p:cTn id="41" presetID="10" presetClass="entr" presetSubtype="0" fill="hold" nodeType="afterEffect">
                                  <p:stCondLst>
                                    <p:cond delay="12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8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380"/>
                                        <p:tgtEl>
                                          <p:spTgt spid="9"/>
                                        </p:tgtEl>
                                      </p:cBhvr>
                                    </p:animEffect>
                                  </p:childTnLst>
                                </p:cTn>
                              </p:par>
                              <p:par>
                                <p:cTn id="49" presetID="10" presetClass="entr" presetSubtype="0" fill="hold" nodeType="afterEffect">
                                  <p:stCondLst>
                                    <p:cond delay="12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380"/>
                                        <p:tgtEl>
                                          <p:spTgt spid="10"/>
                                        </p:tgtEl>
                                      </p:cBhvr>
                                    </p:animEffect>
                                  </p:childTnLst>
                                </p:cTn>
                              </p:par>
                              <p:par>
                                <p:cTn id="52" presetID="10" presetClass="entr" presetSubtype="0" fill="hold" nodeType="afterEffect">
                                  <p:stCondLst>
                                    <p:cond delay="12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38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80"/>
                                        <p:tgtEl>
                                          <p:spTgt spid="15"/>
                                        </p:tgtEl>
                                      </p:cBhvr>
                                    </p:animEffect>
                                  </p:childTnLst>
                                </p:cTn>
                              </p:par>
                              <p:par>
                                <p:cTn id="60" presetID="10" presetClass="entr" presetSubtype="0" fill="hold" nodeType="afterEffect">
                                  <p:stCondLst>
                                    <p:cond delay="12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380"/>
                                        <p:tgtEl>
                                          <p:spTgt spid="16"/>
                                        </p:tgtEl>
                                      </p:cBhvr>
                                    </p:animEffect>
                                  </p:childTnLst>
                                </p:cTn>
                              </p:par>
                              <p:par>
                                <p:cTn id="63" presetID="10" presetClass="entr" presetSubtype="0" fill="hold" nodeType="afterEffect">
                                  <p:stCondLst>
                                    <p:cond delay="12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38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380"/>
                                        <p:tgtEl>
                                          <p:spTgt spid="21"/>
                                        </p:tgtEl>
                                      </p:cBhvr>
                                    </p:animEffect>
                                  </p:childTnLst>
                                </p:cTn>
                              </p:par>
                              <p:par>
                                <p:cTn id="71" presetID="10" presetClass="entr" presetSubtype="0" fill="hold" nodeType="afterEffect">
                                  <p:stCondLst>
                                    <p:cond delay="12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380"/>
                                        <p:tgtEl>
                                          <p:spTgt spid="22"/>
                                        </p:tgtEl>
                                      </p:cBhvr>
                                    </p:animEffect>
                                  </p:childTnLst>
                                </p:cTn>
                              </p:par>
                              <p:par>
                                <p:cTn id="74" presetID="10" presetClass="entr" presetSubtype="0" fill="hold" nodeType="afterEffect">
                                  <p:stCondLst>
                                    <p:cond delay="12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380"/>
                                        <p:tgtEl>
                                          <p:spTgt spid="2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380"/>
                                        <p:tgtEl>
                                          <p:spTgt spid="27"/>
                                        </p:tgtEl>
                                      </p:cBhvr>
                                    </p:animEffect>
                                  </p:childTnLst>
                                </p:cTn>
                              </p:par>
                              <p:par>
                                <p:cTn id="82" presetID="10" presetClass="entr" presetSubtype="0" fill="hold" nodeType="afterEffect">
                                  <p:stCondLst>
                                    <p:cond delay="12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38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475488"/>
            <a:ext cx="12191695" cy="274320"/>
          </a:xfrm>
          <a:prstGeom prst="rect">
            <a:avLst/>
          </a:prstGeom>
          <a:noFill/>
        </p:spPr>
        <p:txBody>
          <a:bodyPr wrap="square" lIns="0" tIns="0" rIns="0" bIns="0" anchor="t">
            <a:spAutoFit/>
          </a:bodyPr>
          <a:lstStyle/>
          <a:p>
            <a:pPr algn="ctr">
              <a:lnSpc>
                <a:spcPct val="125000"/>
              </a:lnSpc>
            </a:pPr>
            <a:r>
              <a:rPr sz="1050" b="1" spc="190">
                <a:solidFill>
                  <a:srgbClr val="1F5BD1"/>
                </a:solidFill>
                <a:latin typeface="Segoe UI"/>
              </a:rPr>
              <a:t>THE BUSINESS QUESTION</a:t>
            </a:r>
          </a:p>
        </p:txBody>
      </p:sp>
      <p:sp>
        <p:nvSpPr>
          <p:cNvPr id="4" name="TextBox 3"/>
          <p:cNvSpPr txBox="1"/>
          <p:nvPr/>
        </p:nvSpPr>
        <p:spPr>
          <a:xfrm>
            <a:off x="0" y="1481328"/>
            <a:ext cx="12191695" cy="2743200"/>
          </a:xfrm>
          <a:prstGeom prst="rect">
            <a:avLst/>
          </a:prstGeom>
          <a:noFill/>
        </p:spPr>
        <p:txBody>
          <a:bodyPr wrap="square" lIns="0" tIns="0" rIns="0" bIns="0" anchor="t">
            <a:spAutoFit/>
          </a:bodyPr>
          <a:lstStyle/>
          <a:p>
            <a:pPr algn="ctr">
              <a:lnSpc>
                <a:spcPct val="106000"/>
              </a:lnSpc>
            </a:pPr>
            <a:r>
              <a:rPr sz="4400" b="1" spc="-130">
                <a:solidFill>
                  <a:srgbClr val="0B0D12"/>
                </a:solidFill>
                <a:latin typeface="Segoe UI"/>
              </a:rPr>
              <a:t>HOW DO WE GIVE THEM</a:t>
            </a:r>
          </a:p>
          <a:p>
            <a:pPr algn="ctr">
              <a:lnSpc>
                <a:spcPct val="106000"/>
              </a:lnSpc>
            </a:pPr>
            <a:r>
              <a:rPr sz="4400" b="1" spc="-130">
                <a:solidFill>
                  <a:srgbClr val="0B0D12"/>
                </a:solidFill>
                <a:latin typeface="Segoe UI"/>
              </a:rPr>
              <a:t>A REASON TO COME BACK?</a:t>
            </a:r>
          </a:p>
        </p:txBody>
      </p:sp>
      <p:sp>
        <p:nvSpPr>
          <p:cNvPr id="5" name="Rounded Rectangle 4"/>
          <p:cNvSpPr/>
          <p:nvPr/>
        </p:nvSpPr>
        <p:spPr>
          <a:xfrm>
            <a:off x="3703320" y="4754879"/>
            <a:ext cx="1371600" cy="1051560"/>
          </a:xfrm>
          <a:prstGeom prst="roundRect">
            <a:avLst>
              <a:gd name="adj" fmla="val 6000"/>
            </a:avLst>
          </a:prstGeom>
          <a:solidFill>
            <a:srgbClr val="C5D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383279" y="5952744"/>
            <a:ext cx="2011680" cy="274320"/>
          </a:xfrm>
          <a:prstGeom prst="rect">
            <a:avLst/>
          </a:prstGeom>
          <a:noFill/>
        </p:spPr>
        <p:txBody>
          <a:bodyPr wrap="square" lIns="0" tIns="0" rIns="0" bIns="0" anchor="t">
            <a:spAutoFit/>
          </a:bodyPr>
          <a:lstStyle/>
          <a:p>
            <a:pPr algn="ctr">
              <a:lnSpc>
                <a:spcPct val="125000"/>
              </a:lnSpc>
            </a:pPr>
            <a:r>
              <a:rPr sz="1050" b="1" spc="130">
                <a:solidFill>
                  <a:srgbClr val="6B7280"/>
                </a:solidFill>
                <a:latin typeface="Segoe UI"/>
              </a:rPr>
              <a:t>RELEVANCE</a:t>
            </a:r>
          </a:p>
        </p:txBody>
      </p:sp>
      <p:sp>
        <p:nvSpPr>
          <p:cNvPr id="7" name="Rounded Rectangle 6"/>
          <p:cNvSpPr/>
          <p:nvPr/>
        </p:nvSpPr>
        <p:spPr>
          <a:xfrm>
            <a:off x="5303520" y="4206240"/>
            <a:ext cx="1371600" cy="1600200"/>
          </a:xfrm>
          <a:prstGeom prst="roundRect">
            <a:avLst>
              <a:gd name="adj" fmla="val 6000"/>
            </a:avLst>
          </a:prstGeom>
          <a:solidFill>
            <a:srgbClr val="6E9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83480" y="5952744"/>
            <a:ext cx="2011680" cy="274320"/>
          </a:xfrm>
          <a:prstGeom prst="rect">
            <a:avLst/>
          </a:prstGeom>
          <a:noFill/>
        </p:spPr>
        <p:txBody>
          <a:bodyPr wrap="square" lIns="0" tIns="0" rIns="0" bIns="0" anchor="t">
            <a:spAutoFit/>
          </a:bodyPr>
          <a:lstStyle/>
          <a:p>
            <a:pPr algn="ctr">
              <a:lnSpc>
                <a:spcPct val="125000"/>
              </a:lnSpc>
            </a:pPr>
            <a:r>
              <a:rPr sz="1050" b="1" spc="130">
                <a:solidFill>
                  <a:srgbClr val="6B7280"/>
                </a:solidFill>
                <a:latin typeface="Segoe UI"/>
              </a:rPr>
              <a:t>INTERACTION</a:t>
            </a:r>
          </a:p>
        </p:txBody>
      </p:sp>
      <p:sp>
        <p:nvSpPr>
          <p:cNvPr id="9" name="Rounded Rectangle 8"/>
          <p:cNvSpPr/>
          <p:nvPr/>
        </p:nvSpPr>
        <p:spPr>
          <a:xfrm>
            <a:off x="6903720" y="3657599"/>
            <a:ext cx="1371600" cy="2148840"/>
          </a:xfrm>
          <a:prstGeom prst="roundRect">
            <a:avLst>
              <a:gd name="adj" fmla="val 6000"/>
            </a:avLst>
          </a:prstGeom>
          <a:solidFill>
            <a:srgbClr val="1F5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5952744"/>
            <a:ext cx="2011680" cy="274320"/>
          </a:xfrm>
          <a:prstGeom prst="rect">
            <a:avLst/>
          </a:prstGeom>
          <a:noFill/>
        </p:spPr>
        <p:txBody>
          <a:bodyPr wrap="square" lIns="0" tIns="0" rIns="0" bIns="0" anchor="t">
            <a:spAutoFit/>
          </a:bodyPr>
          <a:lstStyle/>
          <a:p>
            <a:pPr algn="ctr">
              <a:lnSpc>
                <a:spcPct val="125000"/>
              </a:lnSpc>
            </a:pPr>
            <a:r>
              <a:rPr sz="1050" b="1" spc="130">
                <a:solidFill>
                  <a:srgbClr val="6B7280"/>
                </a:solidFill>
                <a:latin typeface="Segoe UI"/>
              </a:rPr>
              <a:t>OPPORTUNITY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2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20"/>
                                        <p:tgtEl>
                                          <p:spTgt spid="5"/>
                                        </p:tgtEl>
                                      </p:cBhvr>
                                    </p:animEffect>
                                  </p:childTnLst>
                                </p:cTn>
                              </p:par>
                              <p:par>
                                <p:cTn id="13" presetID="10" presetClass="entr" presetSubtype="0" fill="hold" nodeType="afterEffect">
                                  <p:stCondLst>
                                    <p:cond delay="2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2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20"/>
                                        <p:tgtEl>
                                          <p:spTgt spid="7"/>
                                        </p:tgtEl>
                                      </p:cBhvr>
                                    </p:animEffect>
                                  </p:childTnLst>
                                </p:cTn>
                              </p:par>
                              <p:par>
                                <p:cTn id="21" presetID="10" presetClass="entr" presetSubtype="0" fill="hold" nodeType="afterEffect">
                                  <p:stCondLst>
                                    <p:cond delay="26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2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20"/>
                                        <p:tgtEl>
                                          <p:spTgt spid="9"/>
                                        </p:tgtEl>
                                      </p:cBhvr>
                                    </p:animEffect>
                                  </p:childTnLst>
                                </p:cTn>
                              </p:par>
                              <p:par>
                                <p:cTn id="29" presetID="10" presetClass="entr" presetSubtype="0" fill="hold" nodeType="afterEffect">
                                  <p:stCondLst>
                                    <p:cond delay="2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THE COMPETITIVE LANDSCAPE</a:t>
            </a:r>
          </a:p>
        </p:txBody>
      </p:sp>
      <p:sp>
        <p:nvSpPr>
          <p:cNvPr id="4" name="TextBox 3"/>
          <p:cNvSpPr txBox="1"/>
          <p:nvPr/>
        </p:nvSpPr>
        <p:spPr>
          <a:xfrm>
            <a:off x="868680" y="1005840"/>
            <a:ext cx="10515600" cy="2743200"/>
          </a:xfrm>
          <a:prstGeom prst="rect">
            <a:avLst/>
          </a:prstGeom>
          <a:noFill/>
        </p:spPr>
        <p:txBody>
          <a:bodyPr wrap="square" lIns="0" tIns="0" rIns="0" bIns="0" anchor="t">
            <a:spAutoFit/>
          </a:bodyPr>
          <a:lstStyle/>
          <a:p>
            <a:pPr algn="l">
              <a:lnSpc>
                <a:spcPct val="106000"/>
              </a:lnSpc>
            </a:pPr>
            <a:r>
              <a:rPr sz="3800" b="1" spc="-100">
                <a:solidFill>
                  <a:srgbClr val="0B0D12"/>
                </a:solidFill>
                <a:latin typeface="Segoe UI"/>
              </a:rPr>
              <a:t>THE PLAYBOOK IS THE SAME.</a:t>
            </a:r>
          </a:p>
        </p:txBody>
      </p:sp>
      <p:sp>
        <p:nvSpPr>
          <p:cNvPr id="5" name="Rounded Rectangle 4"/>
          <p:cNvSpPr/>
          <p:nvPr/>
        </p:nvSpPr>
        <p:spPr>
          <a:xfrm>
            <a:off x="868680" y="2148840"/>
            <a:ext cx="2148840" cy="658368"/>
          </a:xfrm>
          <a:prstGeom prst="roundRect">
            <a:avLst>
              <a:gd name="adj" fmla="val 16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a:solidFill>
                  <a:srgbClr val="2B3039"/>
                </a:solidFill>
                <a:latin typeface="Segoe UI"/>
              </a:rPr>
              <a:t>Betano</a:t>
            </a:r>
          </a:p>
        </p:txBody>
      </p:sp>
      <p:sp>
        <p:nvSpPr>
          <p:cNvPr id="6" name="Rounded Rectangle 5"/>
          <p:cNvSpPr/>
          <p:nvPr/>
        </p:nvSpPr>
        <p:spPr>
          <a:xfrm>
            <a:off x="3200400" y="2148840"/>
            <a:ext cx="2148840" cy="658368"/>
          </a:xfrm>
          <a:prstGeom prst="roundRect">
            <a:avLst>
              <a:gd name="adj" fmla="val 16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a:solidFill>
                  <a:srgbClr val="2B3039"/>
                </a:solidFill>
                <a:latin typeface="Segoe UI"/>
              </a:rPr>
              <a:t>Superbet</a:t>
            </a:r>
          </a:p>
        </p:txBody>
      </p:sp>
      <p:sp>
        <p:nvSpPr>
          <p:cNvPr id="7" name="Rounded Rectangle 6"/>
          <p:cNvSpPr/>
          <p:nvPr/>
        </p:nvSpPr>
        <p:spPr>
          <a:xfrm>
            <a:off x="5532120" y="2148840"/>
            <a:ext cx="2148840" cy="658368"/>
          </a:xfrm>
          <a:prstGeom prst="roundRect">
            <a:avLst>
              <a:gd name="adj" fmla="val 16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a:solidFill>
                  <a:srgbClr val="2B3039"/>
                </a:solidFill>
                <a:latin typeface="Segoe UI"/>
              </a:rPr>
              <a:t>SuperSport</a:t>
            </a:r>
          </a:p>
        </p:txBody>
      </p:sp>
      <p:sp>
        <p:nvSpPr>
          <p:cNvPr id="8" name="Rounded Rectangle 7"/>
          <p:cNvSpPr/>
          <p:nvPr/>
        </p:nvSpPr>
        <p:spPr>
          <a:xfrm>
            <a:off x="7863840" y="2148840"/>
            <a:ext cx="2148840" cy="658368"/>
          </a:xfrm>
          <a:prstGeom prst="roundRect">
            <a:avLst>
              <a:gd name="adj" fmla="val 16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a:solidFill>
                  <a:srgbClr val="2B3039"/>
                </a:solidFill>
                <a:latin typeface="Segoe UI"/>
              </a:rPr>
              <a:t>STS</a:t>
            </a:r>
          </a:p>
        </p:txBody>
      </p:sp>
      <p:sp>
        <p:nvSpPr>
          <p:cNvPr id="9" name="Rounded Rectangle 8"/>
          <p:cNvSpPr/>
          <p:nvPr/>
        </p:nvSpPr>
        <p:spPr>
          <a:xfrm>
            <a:off x="868680" y="3017520"/>
            <a:ext cx="2148840" cy="457200"/>
          </a:xfrm>
          <a:prstGeom prst="roundRect">
            <a:avLst>
              <a:gd name="adj" fmla="val 50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6B7280"/>
                </a:solidFill>
                <a:latin typeface="Segoe UI"/>
              </a:rPr>
              <a:t>Missions</a:t>
            </a:r>
          </a:p>
        </p:txBody>
      </p:sp>
      <p:sp>
        <p:nvSpPr>
          <p:cNvPr id="10" name="Rounded Rectangle 9"/>
          <p:cNvSpPr/>
          <p:nvPr/>
        </p:nvSpPr>
        <p:spPr>
          <a:xfrm>
            <a:off x="3200400" y="3017520"/>
            <a:ext cx="2148840" cy="457200"/>
          </a:xfrm>
          <a:prstGeom prst="roundRect">
            <a:avLst>
              <a:gd name="adj" fmla="val 50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6B7280"/>
                </a:solidFill>
                <a:latin typeface="Segoe UI"/>
              </a:rPr>
              <a:t>XP</a:t>
            </a:r>
          </a:p>
        </p:txBody>
      </p:sp>
      <p:sp>
        <p:nvSpPr>
          <p:cNvPr id="11" name="Rounded Rectangle 10"/>
          <p:cNvSpPr/>
          <p:nvPr/>
        </p:nvSpPr>
        <p:spPr>
          <a:xfrm>
            <a:off x="5532120" y="3017520"/>
            <a:ext cx="2148840" cy="457200"/>
          </a:xfrm>
          <a:prstGeom prst="roundRect">
            <a:avLst>
              <a:gd name="adj" fmla="val 50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6B7280"/>
                </a:solidFill>
                <a:latin typeface="Segoe UI"/>
              </a:rPr>
              <a:t>Tiers</a:t>
            </a:r>
          </a:p>
        </p:txBody>
      </p:sp>
      <p:sp>
        <p:nvSpPr>
          <p:cNvPr id="12" name="Rounded Rectangle 11"/>
          <p:cNvSpPr/>
          <p:nvPr/>
        </p:nvSpPr>
        <p:spPr>
          <a:xfrm>
            <a:off x="7863840" y="3017520"/>
            <a:ext cx="2148840" cy="457200"/>
          </a:xfrm>
          <a:prstGeom prst="roundRect">
            <a:avLst>
              <a:gd name="adj" fmla="val 50000"/>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150" b="1">
                <a:solidFill>
                  <a:srgbClr val="6B7280"/>
                </a:solidFill>
                <a:latin typeface="Segoe UI"/>
              </a:rPr>
              <a:t>Rewards</a:t>
            </a:r>
          </a:p>
        </p:txBody>
      </p:sp>
      <p:sp>
        <p:nvSpPr>
          <p:cNvPr id="13" name="Rounded Rectangle 12"/>
          <p:cNvSpPr/>
          <p:nvPr/>
        </p:nvSpPr>
        <p:spPr>
          <a:xfrm>
            <a:off x="868680" y="3977639"/>
            <a:ext cx="4892040" cy="1691640"/>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07008" y="4261104"/>
            <a:ext cx="4206240" cy="274320"/>
          </a:xfrm>
          <a:prstGeom prst="rect">
            <a:avLst/>
          </a:prstGeom>
          <a:noFill/>
        </p:spPr>
        <p:txBody>
          <a:bodyPr wrap="square" lIns="0" tIns="0" rIns="0" bIns="0" anchor="t">
            <a:spAutoFit/>
          </a:bodyPr>
          <a:lstStyle/>
          <a:p>
            <a:pPr algn="l">
              <a:lnSpc>
                <a:spcPct val="125000"/>
              </a:lnSpc>
            </a:pPr>
            <a:r>
              <a:rPr sz="1100" b="1" spc="170">
                <a:solidFill>
                  <a:srgbClr val="A3A9B4"/>
                </a:solidFill>
                <a:latin typeface="Segoe UI"/>
              </a:rPr>
              <a:t>THEM</a:t>
            </a:r>
          </a:p>
        </p:txBody>
      </p:sp>
      <p:sp>
        <p:nvSpPr>
          <p:cNvPr id="15" name="TextBox 14"/>
          <p:cNvSpPr txBox="1"/>
          <p:nvPr/>
        </p:nvSpPr>
        <p:spPr>
          <a:xfrm>
            <a:off x="1207008" y="4645152"/>
            <a:ext cx="4206240" cy="731520"/>
          </a:xfrm>
          <a:prstGeom prst="rect">
            <a:avLst/>
          </a:prstGeom>
          <a:noFill/>
        </p:spPr>
        <p:txBody>
          <a:bodyPr wrap="square" lIns="0" tIns="0" rIns="0" bIns="0" anchor="t">
            <a:spAutoFit/>
          </a:bodyPr>
          <a:lstStyle/>
          <a:p>
            <a:pPr algn="l">
              <a:lnSpc>
                <a:spcPct val="125000"/>
              </a:lnSpc>
            </a:pPr>
            <a:r>
              <a:rPr sz="4000" b="1" spc="-100">
                <a:solidFill>
                  <a:srgbClr val="A3A9B4"/>
                </a:solidFill>
                <a:latin typeface="Segoe UI"/>
              </a:rPr>
              <a:t>MONEY</a:t>
            </a:r>
          </a:p>
        </p:txBody>
      </p:sp>
      <p:sp>
        <p:nvSpPr>
          <p:cNvPr id="16" name="Rounded Rectangle 15"/>
          <p:cNvSpPr/>
          <p:nvPr/>
        </p:nvSpPr>
        <p:spPr>
          <a:xfrm>
            <a:off x="6126480" y="3977639"/>
            <a:ext cx="5193792" cy="1691640"/>
          </a:xfrm>
          <a:prstGeom prst="roundRect">
            <a:avLst>
              <a:gd name="adj" fmla="val 10000"/>
            </a:avLst>
          </a:prstGeom>
          <a:solidFill>
            <a:srgbClr val="E9F0FD"/>
          </a:solidFill>
          <a:ln w="12700">
            <a:solidFill>
              <a:srgbClr val="C5D8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8" y="4261104"/>
            <a:ext cx="4206240" cy="274320"/>
          </a:xfrm>
          <a:prstGeom prst="rect">
            <a:avLst/>
          </a:prstGeom>
          <a:noFill/>
        </p:spPr>
        <p:txBody>
          <a:bodyPr wrap="square" lIns="0" tIns="0" rIns="0" bIns="0" anchor="t">
            <a:spAutoFit/>
          </a:bodyPr>
          <a:lstStyle/>
          <a:p>
            <a:pPr algn="l">
              <a:lnSpc>
                <a:spcPct val="125000"/>
              </a:lnSpc>
            </a:pPr>
            <a:r>
              <a:rPr sz="1100" b="1" spc="170">
                <a:solidFill>
                  <a:srgbClr val="1F5BD1"/>
                </a:solidFill>
                <a:latin typeface="Segoe UI"/>
              </a:rPr>
              <a:t>US</a:t>
            </a:r>
          </a:p>
        </p:txBody>
      </p:sp>
      <p:sp>
        <p:nvSpPr>
          <p:cNvPr id="18" name="TextBox 17"/>
          <p:cNvSpPr txBox="1"/>
          <p:nvPr/>
        </p:nvSpPr>
        <p:spPr>
          <a:xfrm>
            <a:off x="6464808" y="4645152"/>
            <a:ext cx="4480560" cy="731520"/>
          </a:xfrm>
          <a:prstGeom prst="rect">
            <a:avLst/>
          </a:prstGeom>
          <a:noFill/>
        </p:spPr>
        <p:txBody>
          <a:bodyPr wrap="square" lIns="0" tIns="0" rIns="0" bIns="0" anchor="t">
            <a:spAutoFit/>
          </a:bodyPr>
          <a:lstStyle/>
          <a:p>
            <a:pPr algn="l">
              <a:lnSpc>
                <a:spcPct val="125000"/>
              </a:lnSpc>
            </a:pPr>
            <a:r>
              <a:rPr sz="4000" b="1" spc="-100">
                <a:solidFill>
                  <a:srgbClr val="1F5BD1"/>
                </a:solidFill>
                <a:latin typeface="Segoe UI"/>
              </a:rPr>
              <a:t>ATTENTION</a:t>
            </a:r>
          </a:p>
        </p:txBody>
      </p:sp>
      <p:sp>
        <p:nvSpPr>
          <p:cNvPr id="19" name="TextBox 18"/>
          <p:cNvSpPr txBox="1"/>
          <p:nvPr/>
        </p:nvSpPr>
        <p:spPr>
          <a:xfrm>
            <a:off x="868680" y="6053328"/>
            <a:ext cx="10515600" cy="274320"/>
          </a:xfrm>
          <a:prstGeom prst="rect">
            <a:avLst/>
          </a:prstGeom>
          <a:noFill/>
        </p:spPr>
        <p:txBody>
          <a:bodyPr wrap="square" lIns="0" tIns="0" rIns="0" bIns="0" anchor="t">
            <a:spAutoFit/>
          </a:bodyPr>
          <a:lstStyle/>
          <a:p>
            <a:pPr algn="l">
              <a:lnSpc>
                <a:spcPct val="125000"/>
              </a:lnSpc>
            </a:pPr>
            <a:r>
              <a:rPr sz="1400" b="0">
                <a:solidFill>
                  <a:srgbClr val="6B7280"/>
                </a:solidFill>
                <a:latin typeface="Segoe UI"/>
              </a:rPr>
              <a:t>Reward engagement, not wagering.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8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80"/>
                                        <p:tgtEl>
                                          <p:spTgt spid="5"/>
                                        </p:tgtEl>
                                      </p:cBhvr>
                                    </p:animEffect>
                                  </p:childTnLst>
                                </p:cTn>
                              </p:par>
                              <p:par>
                                <p:cTn id="13" presetID="10" presetClass="entr" presetSubtype="0" fill="hold" nodeType="afterEffect">
                                  <p:stCondLst>
                                    <p:cond delay="9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80"/>
                                        <p:tgtEl>
                                          <p:spTgt spid="6"/>
                                        </p:tgtEl>
                                      </p:cBhvr>
                                    </p:animEffect>
                                  </p:childTnLst>
                                </p:cTn>
                              </p:par>
                              <p:par>
                                <p:cTn id="16" presetID="10" presetClass="entr" presetSubtype="0" fill="hold" nodeType="afterEffect">
                                  <p:stCondLst>
                                    <p:cond delay="9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80"/>
                                        <p:tgtEl>
                                          <p:spTgt spid="7"/>
                                        </p:tgtEl>
                                      </p:cBhvr>
                                    </p:animEffect>
                                  </p:childTnLst>
                                </p:cTn>
                              </p:par>
                              <p:par>
                                <p:cTn id="19" presetID="10" presetClass="entr" presetSubtype="0" fill="hold" nodeType="afterEffect">
                                  <p:stCondLst>
                                    <p:cond delay="9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8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80"/>
                                        <p:tgtEl>
                                          <p:spTgt spid="9"/>
                                        </p:tgtEl>
                                      </p:cBhvr>
                                    </p:animEffect>
                                  </p:childTnLst>
                                </p:cTn>
                              </p:par>
                              <p:par>
                                <p:cTn id="27" presetID="10" presetClass="entr" presetSubtype="0" fill="hold" nodeType="afterEffect">
                                  <p:stCondLst>
                                    <p:cond delay="9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80"/>
                                        <p:tgtEl>
                                          <p:spTgt spid="10"/>
                                        </p:tgtEl>
                                      </p:cBhvr>
                                    </p:animEffect>
                                  </p:childTnLst>
                                </p:cTn>
                              </p:par>
                              <p:par>
                                <p:cTn id="30" presetID="10" presetClass="entr" presetSubtype="0" fill="hold" nodeType="afterEffect">
                                  <p:stCondLst>
                                    <p:cond delay="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80"/>
                                        <p:tgtEl>
                                          <p:spTgt spid="11"/>
                                        </p:tgtEl>
                                      </p:cBhvr>
                                    </p:animEffect>
                                  </p:childTnLst>
                                </p:cTn>
                              </p:par>
                              <p:par>
                                <p:cTn id="33" presetID="10" presetClass="entr" presetSubtype="0" fill="hold" nodeType="afterEffect">
                                  <p:stCondLst>
                                    <p:cond delay="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8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80"/>
                                        <p:tgtEl>
                                          <p:spTgt spid="13"/>
                                        </p:tgtEl>
                                      </p:cBhvr>
                                    </p:animEffect>
                                  </p:childTnLst>
                                </p:cTn>
                              </p:par>
                              <p:par>
                                <p:cTn id="41" presetID="10" presetClass="entr" presetSubtype="0" fill="hold" nodeType="afterEffect">
                                  <p:stCondLst>
                                    <p:cond delay="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380"/>
                                        <p:tgtEl>
                                          <p:spTgt spid="14"/>
                                        </p:tgtEl>
                                      </p:cBhvr>
                                    </p:animEffect>
                                  </p:childTnLst>
                                </p:cTn>
                              </p:par>
                              <p:par>
                                <p:cTn id="44" presetID="10" presetClass="entr" presetSubtype="0" fill="hold" nodeType="afterEffect">
                                  <p:stCondLst>
                                    <p:cond delay="9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38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380"/>
                                        <p:tgtEl>
                                          <p:spTgt spid="16"/>
                                        </p:tgtEl>
                                      </p:cBhvr>
                                    </p:animEffect>
                                  </p:childTnLst>
                                </p:cTn>
                              </p:par>
                              <p:par>
                                <p:cTn id="52" presetID="10" presetClass="entr" presetSubtype="0" fill="hold" nodeType="afterEffect">
                                  <p:stCondLst>
                                    <p:cond delay="9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380"/>
                                        <p:tgtEl>
                                          <p:spTgt spid="17"/>
                                        </p:tgtEl>
                                      </p:cBhvr>
                                    </p:animEffect>
                                  </p:childTnLst>
                                </p:cTn>
                              </p:par>
                              <p:par>
                                <p:cTn id="55" presetID="10" presetClass="entr" presetSubtype="0" fill="hold" nodeType="afterEffect">
                                  <p:stCondLst>
                                    <p:cond delay="9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38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8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WHERE THE IDEA CAME FROM</a:t>
            </a:r>
          </a:p>
        </p:txBody>
      </p:sp>
      <p:sp>
        <p:nvSpPr>
          <p:cNvPr id="4" name="TextBox 3"/>
          <p:cNvSpPr txBox="1"/>
          <p:nvPr/>
        </p:nvSpPr>
        <p:spPr>
          <a:xfrm>
            <a:off x="868680" y="1005840"/>
            <a:ext cx="6766560" cy="2743200"/>
          </a:xfrm>
          <a:prstGeom prst="rect">
            <a:avLst/>
          </a:prstGeom>
          <a:noFill/>
        </p:spPr>
        <p:txBody>
          <a:bodyPr wrap="square" lIns="0" tIns="0" rIns="0" bIns="0" anchor="t">
            <a:spAutoFit/>
          </a:bodyPr>
          <a:lstStyle/>
          <a:p>
            <a:pPr algn="l">
              <a:lnSpc>
                <a:spcPct val="106000"/>
              </a:lnSpc>
            </a:pPr>
            <a:r>
              <a:rPr sz="3300" b="1" spc="-90">
                <a:solidFill>
                  <a:srgbClr val="0B0D12"/>
                </a:solidFill>
                <a:latin typeface="Segoe UI"/>
              </a:rPr>
              <a:t>ZOMATO DOESN'T ASK.</a:t>
            </a:r>
          </a:p>
          <a:p>
            <a:pPr algn="l">
              <a:lnSpc>
                <a:spcPct val="106000"/>
              </a:lnSpc>
            </a:pPr>
            <a:r>
              <a:rPr sz="3300" b="1" spc="-90">
                <a:solidFill>
                  <a:srgbClr val="0B0D12"/>
                </a:solidFill>
                <a:latin typeface="Segoe UI"/>
              </a:rPr>
              <a:t>IT KNOWS WHEN TO SPEAK.</a:t>
            </a:r>
          </a:p>
        </p:txBody>
      </p:sp>
      <p:sp>
        <p:nvSpPr>
          <p:cNvPr id="5" name="Rounded Rectangle 4"/>
          <p:cNvSpPr/>
          <p:nvPr/>
        </p:nvSpPr>
        <p:spPr>
          <a:xfrm>
            <a:off x="868680" y="2395728"/>
            <a:ext cx="1417320" cy="475488"/>
          </a:xfrm>
          <a:prstGeom prst="roundRect">
            <a:avLst>
              <a:gd name="adj" fmla="val 50000"/>
            </a:avLst>
          </a:prstGeom>
          <a:solidFill>
            <a:srgbClr val="E9F0FD"/>
          </a:solidFill>
          <a:ln w="12700">
            <a:solidFill>
              <a:srgbClr val="C5D8F8"/>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500" b="1">
                <a:solidFill>
                  <a:srgbClr val="1F5BD1"/>
                </a:solidFill>
                <a:latin typeface="Segoe UI"/>
              </a:rPr>
              <a:t>2:00 PM</a:t>
            </a:r>
          </a:p>
        </p:txBody>
      </p:sp>
      <p:sp>
        <p:nvSpPr>
          <p:cNvPr id="6" name="TextBox 5"/>
          <p:cNvSpPr txBox="1"/>
          <p:nvPr/>
        </p:nvSpPr>
        <p:spPr>
          <a:xfrm>
            <a:off x="2450592" y="2523744"/>
            <a:ext cx="4206240" cy="274320"/>
          </a:xfrm>
          <a:prstGeom prst="rect">
            <a:avLst/>
          </a:prstGeom>
          <a:noFill/>
        </p:spPr>
        <p:txBody>
          <a:bodyPr wrap="square" lIns="0" tIns="0" rIns="0" bIns="0" anchor="t">
            <a:spAutoFit/>
          </a:bodyPr>
          <a:lstStyle/>
          <a:p>
            <a:pPr algn="l">
              <a:lnSpc>
                <a:spcPct val="125000"/>
              </a:lnSpc>
            </a:pPr>
            <a:r>
              <a:rPr sz="1350" b="0">
                <a:solidFill>
                  <a:srgbClr val="6B7280"/>
                </a:solidFill>
                <a:latin typeface="Segoe UI"/>
              </a:rPr>
              <a:t>their usual ordering time</a:t>
            </a:r>
          </a:p>
        </p:txBody>
      </p:sp>
      <p:sp>
        <p:nvSpPr>
          <p:cNvPr id="7" name="TextBox 6"/>
          <p:cNvSpPr txBox="1"/>
          <p:nvPr/>
        </p:nvSpPr>
        <p:spPr>
          <a:xfrm>
            <a:off x="868680" y="3310128"/>
            <a:ext cx="6400800" cy="640080"/>
          </a:xfrm>
          <a:prstGeom prst="rect">
            <a:avLst/>
          </a:prstGeom>
          <a:noFill/>
        </p:spPr>
        <p:txBody>
          <a:bodyPr wrap="square" lIns="0" tIns="0" rIns="0" bIns="0" anchor="t">
            <a:spAutoFit/>
          </a:bodyPr>
          <a:lstStyle/>
          <a:p>
            <a:pPr algn="l">
              <a:lnSpc>
                <a:spcPct val="125000"/>
              </a:lnSpc>
            </a:pPr>
            <a:r>
              <a:rPr sz="3800" b="1" spc="-120">
                <a:solidFill>
                  <a:srgbClr val="0B0D12"/>
                </a:solidFill>
                <a:latin typeface="Segoe UI"/>
              </a:rPr>
              <a:t>RIGHT PERSON.</a:t>
            </a:r>
          </a:p>
        </p:txBody>
      </p:sp>
      <p:sp>
        <p:nvSpPr>
          <p:cNvPr id="8" name="TextBox 7"/>
          <p:cNvSpPr txBox="1"/>
          <p:nvPr/>
        </p:nvSpPr>
        <p:spPr>
          <a:xfrm>
            <a:off x="868680" y="4096512"/>
            <a:ext cx="6400800" cy="640080"/>
          </a:xfrm>
          <a:prstGeom prst="rect">
            <a:avLst/>
          </a:prstGeom>
          <a:noFill/>
        </p:spPr>
        <p:txBody>
          <a:bodyPr wrap="square" lIns="0" tIns="0" rIns="0" bIns="0" anchor="t">
            <a:spAutoFit/>
          </a:bodyPr>
          <a:lstStyle/>
          <a:p>
            <a:pPr algn="l">
              <a:lnSpc>
                <a:spcPct val="125000"/>
              </a:lnSpc>
            </a:pPr>
            <a:r>
              <a:rPr sz="3800" b="1" spc="-120">
                <a:solidFill>
                  <a:srgbClr val="0B0D12"/>
                </a:solidFill>
                <a:latin typeface="Segoe UI"/>
              </a:rPr>
              <a:t>RIGHT TIME.</a:t>
            </a:r>
          </a:p>
        </p:txBody>
      </p:sp>
      <p:sp>
        <p:nvSpPr>
          <p:cNvPr id="9" name="TextBox 8"/>
          <p:cNvSpPr txBox="1"/>
          <p:nvPr/>
        </p:nvSpPr>
        <p:spPr>
          <a:xfrm>
            <a:off x="868680" y="4882896"/>
            <a:ext cx="6400800" cy="640080"/>
          </a:xfrm>
          <a:prstGeom prst="rect">
            <a:avLst/>
          </a:prstGeom>
          <a:noFill/>
        </p:spPr>
        <p:txBody>
          <a:bodyPr wrap="square" lIns="0" tIns="0" rIns="0" bIns="0" anchor="t">
            <a:spAutoFit/>
          </a:bodyPr>
          <a:lstStyle/>
          <a:p>
            <a:pPr algn="l">
              <a:lnSpc>
                <a:spcPct val="125000"/>
              </a:lnSpc>
            </a:pPr>
            <a:r>
              <a:rPr sz="3800" b="1" spc="-120">
                <a:solidFill>
                  <a:srgbClr val="1F5BD1"/>
                </a:solidFill>
                <a:latin typeface="Segoe UI"/>
              </a:rPr>
              <a:t>RIGHT MESSAGE.</a:t>
            </a:r>
          </a:p>
        </p:txBody>
      </p:sp>
      <p:sp>
        <p:nvSpPr>
          <p:cNvPr id="10" name="TextBox 9"/>
          <p:cNvSpPr txBox="1"/>
          <p:nvPr/>
        </p:nvSpPr>
        <p:spPr>
          <a:xfrm>
            <a:off x="868680" y="5870448"/>
            <a:ext cx="6400800" cy="365760"/>
          </a:xfrm>
          <a:prstGeom prst="rect">
            <a:avLst/>
          </a:prstGeom>
          <a:noFill/>
        </p:spPr>
        <p:txBody>
          <a:bodyPr wrap="square" lIns="0" tIns="0" rIns="0" bIns="0" anchor="t">
            <a:spAutoFit/>
          </a:bodyPr>
          <a:lstStyle/>
          <a:p>
            <a:pPr algn="l">
              <a:lnSpc>
                <a:spcPct val="125000"/>
              </a:lnSpc>
            </a:pPr>
            <a:r>
              <a:rPr sz="1600" b="0">
                <a:solidFill>
                  <a:srgbClr val="6B7280"/>
                </a:solidFill>
                <a:latin typeface="Segoe UI"/>
              </a:rPr>
              <a:t>What if PSK did the same?</a:t>
            </a:r>
          </a:p>
        </p:txBody>
      </p:sp>
      <p:pic>
        <p:nvPicPr>
          <p:cNvPr id="11" name="Picture 10" descr="zomato.png"/>
          <p:cNvPicPr>
            <a:picLocks noChangeAspect="1"/>
          </p:cNvPicPr>
          <p:nvPr/>
        </p:nvPicPr>
        <p:blipFill>
          <a:blip r:embed="rId3"/>
          <a:stretch>
            <a:fillRect/>
          </a:stretch>
        </p:blipFill>
        <p:spPr>
          <a:xfrm>
            <a:off x="7635240" y="274320"/>
            <a:ext cx="3602287" cy="68122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2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20"/>
                                        <p:tgtEl>
                                          <p:spTgt spid="5"/>
                                        </p:tgtEl>
                                      </p:cBhvr>
                                    </p:animEffect>
                                  </p:childTnLst>
                                </p:cTn>
                              </p:par>
                              <p:par>
                                <p:cTn id="13" presetID="10" presetClass="entr" presetSubtype="0" fill="hold" nodeType="after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THE IDEA  ·  AMBIENT</a:t>
            </a:r>
          </a:p>
        </p:txBody>
      </p:sp>
      <p:sp>
        <p:nvSpPr>
          <p:cNvPr id="4" name="TextBox 3"/>
          <p:cNvSpPr txBox="1"/>
          <p:nvPr/>
        </p:nvSpPr>
        <p:spPr>
          <a:xfrm>
            <a:off x="868680" y="960120"/>
            <a:ext cx="10515600" cy="2743200"/>
          </a:xfrm>
          <a:prstGeom prst="rect">
            <a:avLst/>
          </a:prstGeom>
          <a:noFill/>
        </p:spPr>
        <p:txBody>
          <a:bodyPr wrap="square" lIns="0" tIns="0" rIns="0" bIns="0" anchor="t">
            <a:spAutoFit/>
          </a:bodyPr>
          <a:lstStyle/>
          <a:p>
            <a:pPr algn="l">
              <a:lnSpc>
                <a:spcPct val="106000"/>
              </a:lnSpc>
            </a:pPr>
            <a:r>
              <a:rPr sz="3800" b="1" spc="-100">
                <a:solidFill>
                  <a:srgbClr val="0B0D12"/>
                </a:solidFill>
                <a:latin typeface="Segoe UI"/>
              </a:rPr>
              <a:t>MAKE PSK FEEL PERSONAL.</a:t>
            </a:r>
          </a:p>
        </p:txBody>
      </p:sp>
      <p:sp>
        <p:nvSpPr>
          <p:cNvPr id="5" name="TextBox 4"/>
          <p:cNvSpPr txBox="1"/>
          <p:nvPr/>
        </p:nvSpPr>
        <p:spPr>
          <a:xfrm>
            <a:off x="868680" y="1700784"/>
            <a:ext cx="10058400" cy="274320"/>
          </a:xfrm>
          <a:prstGeom prst="rect">
            <a:avLst/>
          </a:prstGeom>
          <a:noFill/>
        </p:spPr>
        <p:txBody>
          <a:bodyPr wrap="square" lIns="0" tIns="0" rIns="0" bIns="0" anchor="t">
            <a:spAutoFit/>
          </a:bodyPr>
          <a:lstStyle/>
          <a:p>
            <a:pPr algn="l">
              <a:lnSpc>
                <a:spcPct val="125000"/>
              </a:lnSpc>
            </a:pPr>
            <a:r>
              <a:rPr sz="1500" b="0">
                <a:solidFill>
                  <a:srgbClr val="6B7280"/>
                </a:solidFill>
                <a:latin typeface="Segoe UI"/>
              </a:rPr>
              <a:t>Personalised across the surfaces they already look at — no app open required.</a:t>
            </a:r>
          </a:p>
        </p:txBody>
      </p:sp>
      <p:sp>
        <p:nvSpPr>
          <p:cNvPr id="6" name="TextBox 5"/>
          <p:cNvSpPr txBox="1"/>
          <p:nvPr/>
        </p:nvSpPr>
        <p:spPr>
          <a:xfrm>
            <a:off x="960120" y="2267712"/>
            <a:ext cx="3108960" cy="274320"/>
          </a:xfrm>
          <a:prstGeom prst="rect">
            <a:avLst/>
          </a:prstGeom>
          <a:noFill/>
        </p:spPr>
        <p:txBody>
          <a:bodyPr wrap="square" lIns="0" tIns="0" rIns="0" bIns="0" anchor="t">
            <a:spAutoFit/>
          </a:bodyPr>
          <a:lstStyle/>
          <a:p>
            <a:pPr algn="l">
              <a:lnSpc>
                <a:spcPct val="125000"/>
              </a:lnSpc>
            </a:pPr>
            <a:r>
              <a:rPr sz="1100" b="1" spc="170">
                <a:solidFill>
                  <a:srgbClr val="1F5BD1"/>
                </a:solidFill>
                <a:latin typeface="Segoe UI"/>
              </a:rPr>
              <a:t>NOTIFICATION</a:t>
            </a:r>
          </a:p>
        </p:txBody>
      </p:sp>
      <p:pic>
        <p:nvPicPr>
          <p:cNvPr id="7" name="Picture 6" descr="notif.png"/>
          <p:cNvPicPr>
            <a:picLocks noChangeAspect="1"/>
          </p:cNvPicPr>
          <p:nvPr/>
        </p:nvPicPr>
        <p:blipFill>
          <a:blip r:embed="rId3"/>
          <a:stretch>
            <a:fillRect/>
          </a:stretch>
        </p:blipFill>
        <p:spPr>
          <a:xfrm>
            <a:off x="576072" y="2615184"/>
            <a:ext cx="2852818" cy="5394960"/>
          </a:xfrm>
          <a:prstGeom prst="rect">
            <a:avLst/>
          </a:prstGeom>
        </p:spPr>
      </p:pic>
      <p:sp>
        <p:nvSpPr>
          <p:cNvPr id="8" name="TextBox 7"/>
          <p:cNvSpPr txBox="1"/>
          <p:nvPr/>
        </p:nvSpPr>
        <p:spPr>
          <a:xfrm>
            <a:off x="4480560" y="2267712"/>
            <a:ext cx="3108960" cy="274320"/>
          </a:xfrm>
          <a:prstGeom prst="rect">
            <a:avLst/>
          </a:prstGeom>
          <a:noFill/>
        </p:spPr>
        <p:txBody>
          <a:bodyPr wrap="square" lIns="0" tIns="0" rIns="0" bIns="0" anchor="t">
            <a:spAutoFit/>
          </a:bodyPr>
          <a:lstStyle/>
          <a:p>
            <a:pPr algn="l">
              <a:lnSpc>
                <a:spcPct val="125000"/>
              </a:lnSpc>
            </a:pPr>
            <a:r>
              <a:rPr sz="1100" b="1" spc="170">
                <a:solidFill>
                  <a:srgbClr val="1F5BD1"/>
                </a:solidFill>
                <a:latin typeface="Segoe UI"/>
              </a:rPr>
              <a:t>HOME WIDGET</a:t>
            </a:r>
          </a:p>
        </p:txBody>
      </p:sp>
      <p:pic>
        <p:nvPicPr>
          <p:cNvPr id="9" name="Picture 8" descr="home.png"/>
          <p:cNvPicPr>
            <a:picLocks noChangeAspect="1"/>
          </p:cNvPicPr>
          <p:nvPr/>
        </p:nvPicPr>
        <p:blipFill>
          <a:blip r:embed="rId4"/>
          <a:stretch>
            <a:fillRect/>
          </a:stretch>
        </p:blipFill>
        <p:spPr>
          <a:xfrm>
            <a:off x="4096512" y="2615184"/>
            <a:ext cx="2852818" cy="5394960"/>
          </a:xfrm>
          <a:prstGeom prst="rect">
            <a:avLst/>
          </a:prstGeom>
        </p:spPr>
      </p:pic>
      <p:sp>
        <p:nvSpPr>
          <p:cNvPr id="10" name="TextBox 9"/>
          <p:cNvSpPr txBox="1"/>
          <p:nvPr/>
        </p:nvSpPr>
        <p:spPr>
          <a:xfrm>
            <a:off x="8001000" y="2267712"/>
            <a:ext cx="3108960" cy="274320"/>
          </a:xfrm>
          <a:prstGeom prst="rect">
            <a:avLst/>
          </a:prstGeom>
          <a:noFill/>
        </p:spPr>
        <p:txBody>
          <a:bodyPr wrap="square" lIns="0" tIns="0" rIns="0" bIns="0" anchor="t">
            <a:spAutoFit/>
          </a:bodyPr>
          <a:lstStyle/>
          <a:p>
            <a:pPr algn="l">
              <a:lnSpc>
                <a:spcPct val="125000"/>
              </a:lnSpc>
            </a:pPr>
            <a:r>
              <a:rPr sz="1100" b="1" spc="170">
                <a:solidFill>
                  <a:srgbClr val="1F5BD1"/>
                </a:solidFill>
                <a:latin typeface="Segoe UI"/>
              </a:rPr>
              <a:t>LOCK SCREEN</a:t>
            </a:r>
          </a:p>
        </p:txBody>
      </p:sp>
      <p:pic>
        <p:nvPicPr>
          <p:cNvPr id="11" name="Picture 10" descr="lock.png"/>
          <p:cNvPicPr>
            <a:picLocks noChangeAspect="1"/>
          </p:cNvPicPr>
          <p:nvPr/>
        </p:nvPicPr>
        <p:blipFill>
          <a:blip r:embed="rId5"/>
          <a:stretch>
            <a:fillRect/>
          </a:stretch>
        </p:blipFill>
        <p:spPr>
          <a:xfrm>
            <a:off x="7616952" y="2615184"/>
            <a:ext cx="2852818" cy="53949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6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6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60"/>
                                        <p:tgtEl>
                                          <p:spTgt spid="6"/>
                                        </p:tgtEl>
                                      </p:cBhvr>
                                    </p:animEffect>
                                  </p:childTnLst>
                                </p:cTn>
                              </p:par>
                              <p:par>
                                <p:cTn id="18" presetID="10" presetClass="entr" presetSubtype="0" fill="hold" nodeType="afterEffect">
                                  <p:stCondLst>
                                    <p:cond delay="1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6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60"/>
                                        <p:tgtEl>
                                          <p:spTgt spid="8"/>
                                        </p:tgtEl>
                                      </p:cBhvr>
                                    </p:animEffect>
                                  </p:childTnLst>
                                </p:cTn>
                              </p:par>
                              <p:par>
                                <p:cTn id="26" presetID="10" presetClass="entr" presetSubtype="0" fill="hold" nodeType="afterEffect">
                                  <p:stCondLst>
                                    <p:cond delay="14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6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460"/>
                                        <p:tgtEl>
                                          <p:spTgt spid="10"/>
                                        </p:tgtEl>
                                      </p:cBhvr>
                                    </p:animEffect>
                                  </p:childTnLst>
                                </p:cTn>
                              </p:par>
                              <p:par>
                                <p:cTn id="34" presetID="10" presetClass="entr" presetSubtype="0" fill="hold" nodeType="afterEffect">
                                  <p:stCondLst>
                                    <p:cond delay="14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6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PERSONALISATION</a:t>
            </a:r>
          </a:p>
        </p:txBody>
      </p:sp>
      <p:sp>
        <p:nvSpPr>
          <p:cNvPr id="4" name="TextBox 3"/>
          <p:cNvSpPr txBox="1"/>
          <p:nvPr/>
        </p:nvSpPr>
        <p:spPr>
          <a:xfrm>
            <a:off x="868680" y="960120"/>
            <a:ext cx="10515600" cy="2743200"/>
          </a:xfrm>
          <a:prstGeom prst="rect">
            <a:avLst/>
          </a:prstGeom>
          <a:noFill/>
        </p:spPr>
        <p:txBody>
          <a:bodyPr wrap="square" lIns="0" tIns="0" rIns="0" bIns="0" anchor="t">
            <a:spAutoFit/>
          </a:bodyPr>
          <a:lstStyle/>
          <a:p>
            <a:pPr algn="l">
              <a:lnSpc>
                <a:spcPct val="106000"/>
              </a:lnSpc>
            </a:pPr>
            <a:r>
              <a:rPr sz="3200" b="1" spc="-90">
                <a:solidFill>
                  <a:srgbClr val="0B0D12"/>
                </a:solidFill>
                <a:latin typeface="Segoe UI"/>
              </a:rPr>
              <a:t>ONE APP.</a:t>
            </a:r>
          </a:p>
          <a:p>
            <a:pPr algn="l">
              <a:lnSpc>
                <a:spcPct val="106000"/>
              </a:lnSpc>
            </a:pPr>
            <a:r>
              <a:rPr sz="3200" b="1" spc="-90">
                <a:solidFill>
                  <a:srgbClr val="0B0D12"/>
                </a:solidFill>
                <a:latin typeface="Segoe UI"/>
              </a:rPr>
              <a:t>A DIFFERENT EXPERIENCE FOR EVERY USER.</a:t>
            </a:r>
          </a:p>
        </p:txBody>
      </p:sp>
      <p:sp>
        <p:nvSpPr>
          <p:cNvPr id="5" name="TextBox 4"/>
          <p:cNvSpPr txBox="1"/>
          <p:nvPr/>
        </p:nvSpPr>
        <p:spPr>
          <a:xfrm>
            <a:off x="868680" y="2029968"/>
            <a:ext cx="10058400" cy="274320"/>
          </a:xfrm>
          <a:prstGeom prst="rect">
            <a:avLst/>
          </a:prstGeom>
          <a:noFill/>
        </p:spPr>
        <p:txBody>
          <a:bodyPr wrap="square" lIns="0" tIns="0" rIns="0" bIns="0" anchor="t">
            <a:spAutoFit/>
          </a:bodyPr>
          <a:lstStyle/>
          <a:p>
            <a:pPr algn="l">
              <a:lnSpc>
                <a:spcPct val="125000"/>
              </a:lnSpc>
            </a:pPr>
            <a:r>
              <a:rPr sz="1500" b="0">
                <a:solidFill>
                  <a:srgbClr val="6B7280"/>
                </a:solidFill>
                <a:latin typeface="Segoe UI"/>
              </a:rPr>
              <a:t>Preferences + behaviour  →  a personalised experience</a:t>
            </a:r>
          </a:p>
        </p:txBody>
      </p:sp>
      <p:sp>
        <p:nvSpPr>
          <p:cNvPr id="6" name="TextBox 5"/>
          <p:cNvSpPr txBox="1"/>
          <p:nvPr/>
        </p:nvSpPr>
        <p:spPr>
          <a:xfrm>
            <a:off x="960120" y="2615184"/>
            <a:ext cx="3108960" cy="274320"/>
          </a:xfrm>
          <a:prstGeom prst="rect">
            <a:avLst/>
          </a:prstGeom>
          <a:noFill/>
        </p:spPr>
        <p:txBody>
          <a:bodyPr wrap="square" lIns="0" tIns="0" rIns="0" bIns="0" anchor="t">
            <a:spAutoFit/>
          </a:bodyPr>
          <a:lstStyle/>
          <a:p>
            <a:pPr algn="l">
              <a:lnSpc>
                <a:spcPct val="125000"/>
              </a:lnSpc>
            </a:pPr>
            <a:r>
              <a:rPr sz="1700" b="1">
                <a:solidFill>
                  <a:srgbClr val="0B0D12"/>
                </a:solidFill>
                <a:latin typeface="Segoe UI"/>
              </a:rPr>
              <a:t>Marko</a:t>
            </a:r>
          </a:p>
        </p:txBody>
      </p:sp>
      <p:sp>
        <p:nvSpPr>
          <p:cNvPr id="7" name="TextBox 6"/>
          <p:cNvSpPr txBox="1"/>
          <p:nvPr/>
        </p:nvSpPr>
        <p:spPr>
          <a:xfrm>
            <a:off x="960120" y="2926080"/>
            <a:ext cx="3108960" cy="274320"/>
          </a:xfrm>
          <a:prstGeom prst="rect">
            <a:avLst/>
          </a:prstGeom>
          <a:noFill/>
        </p:spPr>
        <p:txBody>
          <a:bodyPr wrap="square" lIns="0" tIns="0" rIns="0" bIns="0" anchor="t">
            <a:spAutoFit/>
          </a:bodyPr>
          <a:lstStyle/>
          <a:p>
            <a:pPr algn="l">
              <a:lnSpc>
                <a:spcPct val="125000"/>
              </a:lnSpc>
            </a:pPr>
            <a:r>
              <a:rPr sz="1200" b="0">
                <a:solidFill>
                  <a:srgbClr val="6B7280"/>
                </a:solidFill>
                <a:latin typeface="Segoe UI"/>
              </a:rPr>
              <a:t>follows Hajduk</a:t>
            </a:r>
          </a:p>
        </p:txBody>
      </p:sp>
      <p:pic>
        <p:nvPicPr>
          <p:cNvPr id="8" name="Picture 7" descr="u_haj.png"/>
          <p:cNvPicPr>
            <a:picLocks noChangeAspect="1"/>
          </p:cNvPicPr>
          <p:nvPr/>
        </p:nvPicPr>
        <p:blipFill>
          <a:blip r:embed="rId3"/>
          <a:srcRect b="10000"/>
          <a:stretch>
            <a:fillRect/>
          </a:stretch>
        </p:blipFill>
        <p:spPr>
          <a:xfrm>
            <a:off x="539496" y="3273552"/>
            <a:ext cx="3147972" cy="3785616"/>
          </a:xfrm>
          <a:prstGeom prst="rect">
            <a:avLst/>
          </a:prstGeom>
        </p:spPr>
      </p:pic>
      <p:sp>
        <p:nvSpPr>
          <p:cNvPr id="9" name="TextBox 8"/>
          <p:cNvSpPr txBox="1"/>
          <p:nvPr/>
        </p:nvSpPr>
        <p:spPr>
          <a:xfrm>
            <a:off x="4480560" y="2615184"/>
            <a:ext cx="3108960" cy="274320"/>
          </a:xfrm>
          <a:prstGeom prst="rect">
            <a:avLst/>
          </a:prstGeom>
          <a:noFill/>
        </p:spPr>
        <p:txBody>
          <a:bodyPr wrap="square" lIns="0" tIns="0" rIns="0" bIns="0" anchor="t">
            <a:spAutoFit/>
          </a:bodyPr>
          <a:lstStyle/>
          <a:p>
            <a:pPr algn="l">
              <a:lnSpc>
                <a:spcPct val="125000"/>
              </a:lnSpc>
            </a:pPr>
            <a:r>
              <a:rPr sz="1700" b="1">
                <a:solidFill>
                  <a:srgbClr val="0B0D12"/>
                </a:solidFill>
                <a:latin typeface="Segoe UI"/>
              </a:rPr>
              <a:t>Ivan</a:t>
            </a:r>
          </a:p>
        </p:txBody>
      </p:sp>
      <p:sp>
        <p:nvSpPr>
          <p:cNvPr id="10" name="TextBox 9"/>
          <p:cNvSpPr txBox="1"/>
          <p:nvPr/>
        </p:nvSpPr>
        <p:spPr>
          <a:xfrm>
            <a:off x="4480560" y="2926080"/>
            <a:ext cx="3108960" cy="274320"/>
          </a:xfrm>
          <a:prstGeom prst="rect">
            <a:avLst/>
          </a:prstGeom>
          <a:noFill/>
        </p:spPr>
        <p:txBody>
          <a:bodyPr wrap="square" lIns="0" tIns="0" rIns="0" bIns="0" anchor="t">
            <a:spAutoFit/>
          </a:bodyPr>
          <a:lstStyle/>
          <a:p>
            <a:pPr algn="l">
              <a:lnSpc>
                <a:spcPct val="125000"/>
              </a:lnSpc>
            </a:pPr>
            <a:r>
              <a:rPr sz="1200" b="0">
                <a:solidFill>
                  <a:srgbClr val="6B7280"/>
                </a:solidFill>
                <a:latin typeface="Segoe UI"/>
              </a:rPr>
              <a:t>follows Dinamo</a:t>
            </a:r>
          </a:p>
        </p:txBody>
      </p:sp>
      <p:pic>
        <p:nvPicPr>
          <p:cNvPr id="11" name="Picture 10" descr="u_din.png"/>
          <p:cNvPicPr>
            <a:picLocks noChangeAspect="1"/>
          </p:cNvPicPr>
          <p:nvPr/>
        </p:nvPicPr>
        <p:blipFill>
          <a:blip r:embed="rId4"/>
          <a:srcRect b="10000"/>
          <a:stretch>
            <a:fillRect/>
          </a:stretch>
        </p:blipFill>
        <p:spPr>
          <a:xfrm>
            <a:off x="4059936" y="3273552"/>
            <a:ext cx="3147972" cy="3785616"/>
          </a:xfrm>
          <a:prstGeom prst="rect">
            <a:avLst/>
          </a:prstGeom>
        </p:spPr>
      </p:pic>
      <p:sp>
        <p:nvSpPr>
          <p:cNvPr id="12" name="TextBox 11"/>
          <p:cNvSpPr txBox="1"/>
          <p:nvPr/>
        </p:nvSpPr>
        <p:spPr>
          <a:xfrm>
            <a:off x="8001000" y="2615184"/>
            <a:ext cx="3108960" cy="274320"/>
          </a:xfrm>
          <a:prstGeom prst="rect">
            <a:avLst/>
          </a:prstGeom>
          <a:noFill/>
        </p:spPr>
        <p:txBody>
          <a:bodyPr wrap="square" lIns="0" tIns="0" rIns="0" bIns="0" anchor="t">
            <a:spAutoFit/>
          </a:bodyPr>
          <a:lstStyle/>
          <a:p>
            <a:pPr algn="l">
              <a:lnSpc>
                <a:spcPct val="125000"/>
              </a:lnSpc>
            </a:pPr>
            <a:r>
              <a:rPr sz="1700" b="1">
                <a:solidFill>
                  <a:srgbClr val="0B0D12"/>
                </a:solidFill>
                <a:latin typeface="Segoe UI"/>
              </a:rPr>
              <a:t>Ana</a:t>
            </a:r>
          </a:p>
        </p:txBody>
      </p:sp>
      <p:sp>
        <p:nvSpPr>
          <p:cNvPr id="13" name="TextBox 12"/>
          <p:cNvSpPr txBox="1"/>
          <p:nvPr/>
        </p:nvSpPr>
        <p:spPr>
          <a:xfrm>
            <a:off x="8001000" y="2926080"/>
            <a:ext cx="3108960" cy="274320"/>
          </a:xfrm>
          <a:prstGeom prst="rect">
            <a:avLst/>
          </a:prstGeom>
          <a:noFill/>
        </p:spPr>
        <p:txBody>
          <a:bodyPr wrap="square" lIns="0" tIns="0" rIns="0" bIns="0" anchor="t">
            <a:spAutoFit/>
          </a:bodyPr>
          <a:lstStyle/>
          <a:p>
            <a:pPr algn="l">
              <a:lnSpc>
                <a:spcPct val="125000"/>
              </a:lnSpc>
            </a:pPr>
            <a:r>
              <a:rPr sz="1200" b="0">
                <a:solidFill>
                  <a:srgbClr val="6B7280"/>
                </a:solidFill>
                <a:latin typeface="Segoe UI"/>
              </a:rPr>
              <a:t>follows Real Madrid</a:t>
            </a:r>
          </a:p>
        </p:txBody>
      </p:sp>
      <p:pic>
        <p:nvPicPr>
          <p:cNvPr id="14" name="Picture 13" descr="u_rma.png"/>
          <p:cNvPicPr>
            <a:picLocks noChangeAspect="1"/>
          </p:cNvPicPr>
          <p:nvPr/>
        </p:nvPicPr>
        <p:blipFill>
          <a:blip r:embed="rId5"/>
          <a:srcRect b="10000"/>
          <a:stretch>
            <a:fillRect/>
          </a:stretch>
        </p:blipFill>
        <p:spPr>
          <a:xfrm>
            <a:off x="7580375" y="3273552"/>
            <a:ext cx="3147972" cy="378561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4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4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40"/>
                                        <p:tgtEl>
                                          <p:spTgt spid="6"/>
                                        </p:tgtEl>
                                      </p:cBhvr>
                                    </p:animEffect>
                                  </p:childTnLst>
                                </p:cTn>
                              </p:par>
                              <p:par>
                                <p:cTn id="18" presetID="10" presetClass="entr" presetSubtype="0" fill="hold" nodeType="afterEffect">
                                  <p:stCondLst>
                                    <p:cond delay="13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40"/>
                                        <p:tgtEl>
                                          <p:spTgt spid="7"/>
                                        </p:tgtEl>
                                      </p:cBhvr>
                                    </p:animEffect>
                                  </p:childTnLst>
                                </p:cTn>
                              </p:par>
                              <p:par>
                                <p:cTn id="21" presetID="10" presetClass="entr" presetSubtype="0" fill="hold" nodeType="afterEffect">
                                  <p:stCondLst>
                                    <p:cond delay="13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4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40"/>
                                        <p:tgtEl>
                                          <p:spTgt spid="9"/>
                                        </p:tgtEl>
                                      </p:cBhvr>
                                    </p:animEffect>
                                  </p:childTnLst>
                                </p:cTn>
                              </p:par>
                              <p:par>
                                <p:cTn id="29" presetID="10" presetClass="entr" presetSubtype="0" fill="hold" nodeType="afterEffect">
                                  <p:stCondLst>
                                    <p:cond delay="13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40"/>
                                        <p:tgtEl>
                                          <p:spTgt spid="10"/>
                                        </p:tgtEl>
                                      </p:cBhvr>
                                    </p:animEffect>
                                  </p:childTnLst>
                                </p:cTn>
                              </p:par>
                              <p:par>
                                <p:cTn id="32" presetID="10" presetClass="entr" presetSubtype="0" fill="hold" nodeType="afterEffect">
                                  <p:stCondLst>
                                    <p:cond delay="13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4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40"/>
                                        <p:tgtEl>
                                          <p:spTgt spid="12"/>
                                        </p:tgtEl>
                                      </p:cBhvr>
                                    </p:animEffect>
                                  </p:childTnLst>
                                </p:cTn>
                              </p:par>
                              <p:par>
                                <p:cTn id="40" presetID="10" presetClass="entr" presetSubtype="0" fill="hold" nodeType="afterEffect">
                                  <p:stCondLst>
                                    <p:cond delay="13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40"/>
                                        <p:tgtEl>
                                          <p:spTgt spid="13"/>
                                        </p:tgtEl>
                                      </p:cBhvr>
                                    </p:animEffect>
                                  </p:childTnLst>
                                </p:cTn>
                              </p:par>
                              <p:par>
                                <p:cTn id="43" presetID="10" presetClass="entr" presetSubtype="0" fill="hold" nodeType="afterEffect">
                                  <p:stCondLst>
                                    <p:cond delay="13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4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THE TECHNOLOGY</a:t>
            </a:r>
          </a:p>
        </p:txBody>
      </p:sp>
      <p:sp>
        <p:nvSpPr>
          <p:cNvPr id="4" name="TextBox 3"/>
          <p:cNvSpPr txBox="1"/>
          <p:nvPr/>
        </p:nvSpPr>
        <p:spPr>
          <a:xfrm>
            <a:off x="868680" y="960120"/>
            <a:ext cx="10515600" cy="2743200"/>
          </a:xfrm>
          <a:prstGeom prst="rect">
            <a:avLst/>
          </a:prstGeom>
          <a:noFill/>
        </p:spPr>
        <p:txBody>
          <a:bodyPr wrap="square" lIns="0" tIns="0" rIns="0" bIns="0" anchor="t">
            <a:spAutoFit/>
          </a:bodyPr>
          <a:lstStyle/>
          <a:p>
            <a:pPr algn="l">
              <a:lnSpc>
                <a:spcPct val="106000"/>
              </a:lnSpc>
            </a:pPr>
            <a:r>
              <a:rPr sz="3200" b="1" spc="-90">
                <a:solidFill>
                  <a:srgbClr val="0B0D12"/>
                </a:solidFill>
                <a:latin typeface="Segoe UI"/>
              </a:rPr>
              <a:t>PERSONALISATION WITHOUT SENDING</a:t>
            </a:r>
          </a:p>
          <a:p>
            <a:pPr algn="l">
              <a:lnSpc>
                <a:spcPct val="106000"/>
              </a:lnSpc>
            </a:pPr>
            <a:r>
              <a:rPr sz="3200" b="1" spc="-90">
                <a:solidFill>
                  <a:srgbClr val="0B0D12"/>
                </a:solidFill>
                <a:latin typeface="Segoe UI"/>
              </a:rPr>
              <a:t>PERSONAL DATA AWAY.</a:t>
            </a:r>
          </a:p>
        </p:txBody>
      </p:sp>
      <p:sp>
        <p:nvSpPr>
          <p:cNvPr id="5" name="Rounded Rectangle 4"/>
          <p:cNvSpPr/>
          <p:nvPr/>
        </p:nvSpPr>
        <p:spPr>
          <a:xfrm>
            <a:off x="868680" y="2331720"/>
            <a:ext cx="6903720" cy="3749039"/>
          </a:xfrm>
          <a:prstGeom prst="roundRect">
            <a:avLst>
              <a:gd name="adj" fmla="val 5500"/>
            </a:avLst>
          </a:prstGeom>
          <a:solidFill>
            <a:srgbClr val="FFFFFF"/>
          </a:solidFill>
          <a:ln w="22225">
            <a:solidFill>
              <a:srgbClr val="1F5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188720" y="2121408"/>
            <a:ext cx="1783080" cy="384048"/>
          </a:xfrm>
          <a:prstGeom prst="roundRect">
            <a:avLst>
              <a:gd name="adj" fmla="val 50000"/>
            </a:avLst>
          </a:prstGeom>
          <a:solidFill>
            <a:srgbClr val="1F5BD1"/>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1050" b="1">
                <a:solidFill>
                  <a:srgbClr val="FFFFFF"/>
                </a:solidFill>
                <a:latin typeface="Segoe UI"/>
              </a:rPr>
              <a:t>ON THE DEVICE</a:t>
            </a:r>
          </a:p>
        </p:txBody>
      </p:sp>
      <p:sp>
        <p:nvSpPr>
          <p:cNvPr id="7" name="Rounded Rectangle 6"/>
          <p:cNvSpPr/>
          <p:nvPr/>
        </p:nvSpPr>
        <p:spPr>
          <a:xfrm>
            <a:off x="1298448" y="2724912"/>
            <a:ext cx="6035040" cy="566928"/>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27632" y="2898648"/>
            <a:ext cx="5303520" cy="274320"/>
          </a:xfrm>
          <a:prstGeom prst="rect">
            <a:avLst/>
          </a:prstGeom>
          <a:noFill/>
        </p:spPr>
        <p:txBody>
          <a:bodyPr wrap="square" lIns="0" tIns="0" rIns="0" bIns="0" anchor="t">
            <a:spAutoFit/>
          </a:bodyPr>
          <a:lstStyle/>
          <a:p>
            <a:pPr algn="l">
              <a:lnSpc>
                <a:spcPct val="125000"/>
              </a:lnSpc>
            </a:pPr>
            <a:r>
              <a:rPr sz="1400" b="0">
                <a:solidFill>
                  <a:srgbClr val="2B3039"/>
                </a:solidFill>
                <a:latin typeface="Segoe UI"/>
              </a:rPr>
              <a:t>Behaviour</a:t>
            </a:r>
          </a:p>
        </p:txBody>
      </p:sp>
      <p:sp>
        <p:nvSpPr>
          <p:cNvPr id="9" name="Down Arrow 8"/>
          <p:cNvSpPr/>
          <p:nvPr/>
        </p:nvSpPr>
        <p:spPr>
          <a:xfrm>
            <a:off x="4206240" y="3364991"/>
            <a:ext cx="219456" cy="182880"/>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298448" y="3511296"/>
            <a:ext cx="6035040" cy="566928"/>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27632" y="3685032"/>
            <a:ext cx="5303520" cy="274320"/>
          </a:xfrm>
          <a:prstGeom prst="rect">
            <a:avLst/>
          </a:prstGeom>
          <a:noFill/>
        </p:spPr>
        <p:txBody>
          <a:bodyPr wrap="square" lIns="0" tIns="0" rIns="0" bIns="0" anchor="t">
            <a:spAutoFit/>
          </a:bodyPr>
          <a:lstStyle/>
          <a:p>
            <a:pPr algn="l">
              <a:lnSpc>
                <a:spcPct val="125000"/>
              </a:lnSpc>
            </a:pPr>
            <a:r>
              <a:rPr sz="1400" b="0">
                <a:solidFill>
                  <a:srgbClr val="2B3039"/>
                </a:solidFill>
                <a:latin typeface="Segoe UI"/>
              </a:rPr>
              <a:t>Local profile</a:t>
            </a:r>
          </a:p>
        </p:txBody>
      </p:sp>
      <p:sp>
        <p:nvSpPr>
          <p:cNvPr id="12" name="Down Arrow 11"/>
          <p:cNvSpPr/>
          <p:nvPr/>
        </p:nvSpPr>
        <p:spPr>
          <a:xfrm>
            <a:off x="4206240" y="4151376"/>
            <a:ext cx="219456" cy="182880"/>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298448" y="4297680"/>
            <a:ext cx="6035040" cy="566928"/>
          </a:xfrm>
          <a:prstGeom prst="roundRect">
            <a:avLst>
              <a:gd name="adj" fmla="val 10000"/>
            </a:avLst>
          </a:prstGeom>
          <a:solidFill>
            <a:srgbClr val="E9F0FD"/>
          </a:solidFill>
          <a:ln w="12700">
            <a:solidFill>
              <a:srgbClr val="C5D8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27632" y="4471416"/>
            <a:ext cx="5303520" cy="274320"/>
          </a:xfrm>
          <a:prstGeom prst="rect">
            <a:avLst/>
          </a:prstGeom>
          <a:noFill/>
        </p:spPr>
        <p:txBody>
          <a:bodyPr wrap="square" lIns="0" tIns="0" rIns="0" bIns="0" anchor="t">
            <a:spAutoFit/>
          </a:bodyPr>
          <a:lstStyle/>
          <a:p>
            <a:pPr algn="l">
              <a:lnSpc>
                <a:spcPct val="125000"/>
              </a:lnSpc>
            </a:pPr>
            <a:r>
              <a:rPr sz="1400" b="1">
                <a:solidFill>
                  <a:srgbClr val="1F5BD1"/>
                </a:solidFill>
                <a:latin typeface="Segoe UI"/>
              </a:rPr>
              <a:t>On-device ML</a:t>
            </a:r>
          </a:p>
        </p:txBody>
      </p:sp>
      <p:sp>
        <p:nvSpPr>
          <p:cNvPr id="15" name="Down Arrow 14"/>
          <p:cNvSpPr/>
          <p:nvPr/>
        </p:nvSpPr>
        <p:spPr>
          <a:xfrm>
            <a:off x="4206240" y="4937760"/>
            <a:ext cx="219456" cy="182880"/>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298448" y="5084064"/>
            <a:ext cx="6035040" cy="566928"/>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27632" y="5257800"/>
            <a:ext cx="5303520" cy="274320"/>
          </a:xfrm>
          <a:prstGeom prst="rect">
            <a:avLst/>
          </a:prstGeom>
          <a:noFill/>
        </p:spPr>
        <p:txBody>
          <a:bodyPr wrap="square" lIns="0" tIns="0" rIns="0" bIns="0" anchor="t">
            <a:spAutoFit/>
          </a:bodyPr>
          <a:lstStyle/>
          <a:p>
            <a:pPr algn="l">
              <a:lnSpc>
                <a:spcPct val="125000"/>
              </a:lnSpc>
            </a:pPr>
            <a:r>
              <a:rPr sz="1400" b="0">
                <a:solidFill>
                  <a:srgbClr val="2B3039"/>
                </a:solidFill>
                <a:latin typeface="Segoe UI"/>
              </a:rPr>
              <a:t>Personalised moment</a:t>
            </a:r>
          </a:p>
        </p:txBody>
      </p:sp>
      <p:sp>
        <p:nvSpPr>
          <p:cNvPr id="18" name="Right Arrow 17"/>
          <p:cNvSpPr/>
          <p:nvPr/>
        </p:nvSpPr>
        <p:spPr>
          <a:xfrm>
            <a:off x="7882127" y="4096512"/>
            <a:ext cx="457200" cy="237744"/>
          </a:xfrm>
          <a:prstGeom prst="rightArrow">
            <a:avLst/>
          </a:prstGeom>
          <a:solidFill>
            <a:srgbClr val="1F5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522208" y="2788920"/>
            <a:ext cx="27889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96528" y="2962656"/>
            <a:ext cx="2377440" cy="274320"/>
          </a:xfrm>
          <a:prstGeom prst="rect">
            <a:avLst/>
          </a:prstGeom>
          <a:noFill/>
        </p:spPr>
        <p:txBody>
          <a:bodyPr wrap="square" lIns="0" tIns="0" rIns="0" bIns="0" anchor="t">
            <a:spAutoFit/>
          </a:bodyPr>
          <a:lstStyle/>
          <a:p>
            <a:pPr algn="l">
              <a:lnSpc>
                <a:spcPct val="125000"/>
              </a:lnSpc>
            </a:pPr>
            <a:r>
              <a:rPr sz="1300" b="0">
                <a:solidFill>
                  <a:srgbClr val="2B3039"/>
                </a:solidFill>
                <a:latin typeface="Segoe UI"/>
              </a:rPr>
              <a:t>Notification</a:t>
            </a:r>
          </a:p>
        </p:txBody>
      </p:sp>
      <p:sp>
        <p:nvSpPr>
          <p:cNvPr id="21" name="Rounded Rectangle 20"/>
          <p:cNvSpPr/>
          <p:nvPr/>
        </p:nvSpPr>
        <p:spPr>
          <a:xfrm>
            <a:off x="8522208" y="3502152"/>
            <a:ext cx="27889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96528" y="3675888"/>
            <a:ext cx="2377440" cy="274320"/>
          </a:xfrm>
          <a:prstGeom prst="rect">
            <a:avLst/>
          </a:prstGeom>
          <a:noFill/>
        </p:spPr>
        <p:txBody>
          <a:bodyPr wrap="square" lIns="0" tIns="0" rIns="0" bIns="0" anchor="t">
            <a:spAutoFit/>
          </a:bodyPr>
          <a:lstStyle/>
          <a:p>
            <a:pPr algn="l">
              <a:lnSpc>
                <a:spcPct val="125000"/>
              </a:lnSpc>
            </a:pPr>
            <a:r>
              <a:rPr sz="1300" b="0">
                <a:solidFill>
                  <a:srgbClr val="2B3039"/>
                </a:solidFill>
                <a:latin typeface="Segoe UI"/>
              </a:rPr>
              <a:t>Widget</a:t>
            </a:r>
          </a:p>
        </p:txBody>
      </p:sp>
      <p:sp>
        <p:nvSpPr>
          <p:cNvPr id="23" name="Rounded Rectangle 22"/>
          <p:cNvSpPr/>
          <p:nvPr/>
        </p:nvSpPr>
        <p:spPr>
          <a:xfrm>
            <a:off x="8522208" y="4215384"/>
            <a:ext cx="2788920" cy="566928"/>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96528" y="4389120"/>
            <a:ext cx="2377440" cy="274320"/>
          </a:xfrm>
          <a:prstGeom prst="rect">
            <a:avLst/>
          </a:prstGeom>
          <a:noFill/>
        </p:spPr>
        <p:txBody>
          <a:bodyPr wrap="square" lIns="0" tIns="0" rIns="0" bIns="0" anchor="t">
            <a:spAutoFit/>
          </a:bodyPr>
          <a:lstStyle/>
          <a:p>
            <a:pPr algn="l">
              <a:lnSpc>
                <a:spcPct val="125000"/>
              </a:lnSpc>
            </a:pPr>
            <a:r>
              <a:rPr sz="1300" b="0">
                <a:solidFill>
                  <a:srgbClr val="2B3039"/>
                </a:solidFill>
                <a:latin typeface="Segoe UI"/>
              </a:rPr>
              <a:t>Lock screen</a:t>
            </a:r>
          </a:p>
        </p:txBody>
      </p:sp>
      <p:sp>
        <p:nvSpPr>
          <p:cNvPr id="25" name="Rounded Rectangle 24"/>
          <p:cNvSpPr/>
          <p:nvPr/>
        </p:nvSpPr>
        <p:spPr>
          <a:xfrm>
            <a:off x="8522208" y="4956048"/>
            <a:ext cx="2788920" cy="777240"/>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96528" y="5138928"/>
            <a:ext cx="2377440" cy="457200"/>
          </a:xfrm>
          <a:prstGeom prst="rect">
            <a:avLst/>
          </a:prstGeom>
          <a:noFill/>
        </p:spPr>
        <p:txBody>
          <a:bodyPr wrap="square" lIns="0" tIns="0" rIns="0" bIns="0" anchor="t">
            <a:spAutoFit/>
          </a:bodyPr>
          <a:lstStyle/>
          <a:p>
            <a:pPr algn="l">
              <a:lnSpc>
                <a:spcPct val="125000"/>
              </a:lnSpc>
            </a:pPr>
            <a:r>
              <a:rPr sz="1200" b="0">
                <a:solidFill>
                  <a:srgbClr val="6B7280"/>
                </a:solidFill>
                <a:latin typeface="Segoe UI"/>
              </a:rPr>
              <a:t>Response</a:t>
            </a:r>
          </a:p>
          <a:p>
            <a:pPr algn="l">
              <a:lnSpc>
                <a:spcPct val="125000"/>
              </a:lnSpc>
            </a:pPr>
            <a:r>
              <a:rPr sz="1200" b="0">
                <a:solidFill>
                  <a:srgbClr val="6B7280"/>
                </a:solidFill>
                <a:latin typeface="Segoe UI"/>
              </a:rPr>
              <a:t>feeds back in</a:t>
            </a:r>
          </a:p>
        </p:txBody>
      </p:sp>
      <p:sp>
        <p:nvSpPr>
          <p:cNvPr id="27" name="Right Arrow 26"/>
          <p:cNvSpPr/>
          <p:nvPr/>
        </p:nvSpPr>
        <p:spPr>
          <a:xfrm rot="10800000">
            <a:off x="7882127" y="5230368"/>
            <a:ext cx="457200" cy="237744"/>
          </a:xfrm>
          <a:prstGeom prst="right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6327648"/>
            <a:ext cx="10515600" cy="320040"/>
          </a:xfrm>
          <a:prstGeom prst="rect">
            <a:avLst/>
          </a:prstGeom>
          <a:noFill/>
        </p:spPr>
        <p:txBody>
          <a:bodyPr wrap="square" lIns="0" tIns="0" rIns="0" bIns="0" anchor="t">
            <a:spAutoFit/>
          </a:bodyPr>
          <a:lstStyle/>
          <a:p>
            <a:pPr algn="l">
              <a:lnSpc>
                <a:spcPct val="125000"/>
              </a:lnSpc>
            </a:pPr>
            <a:r>
              <a:rPr sz="1600" b="1">
                <a:solidFill>
                  <a:srgbClr val="0B0D12"/>
                </a:solidFill>
                <a:latin typeface="Segoe UI"/>
              </a:rPr>
              <a:t>The intelligence lives on the device.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10" presetClass="entr" presetSubtype="0" fill="hold" nodeType="afterEffect">
                                  <p:stCondLst>
                                    <p:cond delay="11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10" presetClass="entr" presetSubtype="0" fill="hold" nodeType="afterEffect">
                                  <p:stCondLst>
                                    <p:cond delay="11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nodeType="afterEffect">
                                  <p:stCondLst>
                                    <p:cond delay="11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nodeType="afterEffect">
                                  <p:stCondLst>
                                    <p:cond delay="11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par>
                                <p:cTn id="35" presetID="10" presetClass="entr" presetSubtype="0" fill="hold" nodeType="afterEffect">
                                  <p:stCondLst>
                                    <p:cond delay="11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childTnLst>
                                </p:cTn>
                              </p:par>
                              <p:par>
                                <p:cTn id="43" presetID="10" presetClass="entr" presetSubtype="0" fill="hold" nodeType="afterEffect">
                                  <p:stCondLst>
                                    <p:cond delay="11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00"/>
                                        <p:tgtEl>
                                          <p:spTgt spid="14"/>
                                        </p:tgtEl>
                                      </p:cBhvr>
                                    </p:animEffect>
                                  </p:childTnLst>
                                </p:cTn>
                              </p:par>
                              <p:par>
                                <p:cTn id="46" presetID="10" presetClass="entr" presetSubtype="0" fill="hold" nodeType="afterEffect">
                                  <p:stCondLst>
                                    <p:cond delay="11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00"/>
                                        <p:tgtEl>
                                          <p:spTgt spid="16"/>
                                        </p:tgtEl>
                                      </p:cBhvr>
                                    </p:animEffect>
                                  </p:childTnLst>
                                </p:cTn>
                              </p:par>
                              <p:par>
                                <p:cTn id="54" presetID="10" presetClass="entr" presetSubtype="0" fill="hold" nodeType="afterEffect">
                                  <p:stCondLst>
                                    <p:cond delay="11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00"/>
                                        <p:tgtEl>
                                          <p:spTgt spid="18"/>
                                        </p:tgtEl>
                                      </p:cBhvr>
                                    </p:animEffect>
                                  </p:childTnLst>
                                </p:cTn>
                              </p:par>
                              <p:par>
                                <p:cTn id="62" presetID="10" presetClass="entr" presetSubtype="0" fill="hold" nodeType="afterEffect">
                                  <p:stCondLst>
                                    <p:cond delay="11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400"/>
                                        <p:tgtEl>
                                          <p:spTgt spid="19"/>
                                        </p:tgtEl>
                                      </p:cBhvr>
                                    </p:animEffect>
                                  </p:childTnLst>
                                </p:cTn>
                              </p:par>
                              <p:par>
                                <p:cTn id="65" presetID="10" presetClass="entr" presetSubtype="0" fill="hold" nodeType="afterEffect">
                                  <p:stCondLst>
                                    <p:cond delay="11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00"/>
                                        <p:tgtEl>
                                          <p:spTgt spid="20"/>
                                        </p:tgtEl>
                                      </p:cBhvr>
                                    </p:animEffect>
                                  </p:childTnLst>
                                </p:cTn>
                              </p:par>
                              <p:par>
                                <p:cTn id="68" presetID="10" presetClass="entr" presetSubtype="0" fill="hold" nodeType="afterEffect">
                                  <p:stCondLst>
                                    <p:cond delay="11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400"/>
                                        <p:tgtEl>
                                          <p:spTgt spid="21"/>
                                        </p:tgtEl>
                                      </p:cBhvr>
                                    </p:animEffect>
                                  </p:childTnLst>
                                </p:cTn>
                              </p:par>
                              <p:par>
                                <p:cTn id="71" presetID="10" presetClass="entr" presetSubtype="0" fill="hold" nodeType="afterEffect">
                                  <p:stCondLst>
                                    <p:cond delay="11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0"/>
                                        <p:tgtEl>
                                          <p:spTgt spid="22"/>
                                        </p:tgtEl>
                                      </p:cBhvr>
                                    </p:animEffect>
                                  </p:childTnLst>
                                </p:cTn>
                              </p:par>
                              <p:par>
                                <p:cTn id="74" presetID="10" presetClass="entr" presetSubtype="0" fill="hold" nodeType="afterEffect">
                                  <p:stCondLst>
                                    <p:cond delay="11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400"/>
                                        <p:tgtEl>
                                          <p:spTgt spid="23"/>
                                        </p:tgtEl>
                                      </p:cBhvr>
                                    </p:animEffect>
                                  </p:childTnLst>
                                </p:cTn>
                              </p:par>
                              <p:par>
                                <p:cTn id="77" presetID="10" presetClass="entr" presetSubtype="0" fill="hold" nodeType="afterEffect">
                                  <p:stCondLst>
                                    <p:cond delay="11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00"/>
                                        <p:tgtEl>
                                          <p:spTgt spid="2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00"/>
                                        <p:tgtEl>
                                          <p:spTgt spid="27"/>
                                        </p:tgtEl>
                                      </p:cBhvr>
                                    </p:animEffect>
                                  </p:childTnLst>
                                </p:cTn>
                              </p:par>
                              <p:par>
                                <p:cTn id="85" presetID="10" presetClass="entr" presetSubtype="0" fill="hold" nodeType="afterEffect">
                                  <p:stCondLst>
                                    <p:cond delay="11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400"/>
                                        <p:tgtEl>
                                          <p:spTgt spid="25"/>
                                        </p:tgtEl>
                                      </p:cBhvr>
                                    </p:animEffect>
                                  </p:childTnLst>
                                </p:cTn>
                              </p:par>
                              <p:par>
                                <p:cTn id="88" presetID="10" presetClass="entr" presetSubtype="0" fill="hold" nodeType="afterEffect">
                                  <p:stCondLst>
                                    <p:cond delay="11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4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THE DIFFERENTIATOR</a:t>
            </a:r>
          </a:p>
        </p:txBody>
      </p:sp>
      <p:sp>
        <p:nvSpPr>
          <p:cNvPr id="4" name="TextBox 3"/>
          <p:cNvSpPr txBox="1"/>
          <p:nvPr/>
        </p:nvSpPr>
        <p:spPr>
          <a:xfrm>
            <a:off x="868680" y="960120"/>
            <a:ext cx="10515600" cy="2743200"/>
          </a:xfrm>
          <a:prstGeom prst="rect">
            <a:avLst/>
          </a:prstGeom>
          <a:noFill/>
        </p:spPr>
        <p:txBody>
          <a:bodyPr wrap="square" lIns="0" tIns="0" rIns="0" bIns="0" anchor="t">
            <a:spAutoFit/>
          </a:bodyPr>
          <a:lstStyle/>
          <a:p>
            <a:pPr algn="l">
              <a:lnSpc>
                <a:spcPct val="106000"/>
              </a:lnSpc>
            </a:pPr>
            <a:r>
              <a:rPr sz="3400" b="1" spc="-90">
                <a:solidFill>
                  <a:srgbClr val="0B0D12"/>
                </a:solidFill>
                <a:latin typeface="Segoe UI"/>
              </a:rPr>
              <a:t>IT DOESN'T JUST PERSONALISE.</a:t>
            </a:r>
          </a:p>
          <a:p>
            <a:pPr algn="l">
              <a:lnSpc>
                <a:spcPct val="106000"/>
              </a:lnSpc>
            </a:pPr>
            <a:r>
              <a:rPr sz="3400" b="1" spc="-90">
                <a:solidFill>
                  <a:srgbClr val="0B0D12"/>
                </a:solidFill>
                <a:latin typeface="Segoe UI"/>
              </a:rPr>
              <a:t>IT LEARNS.</a:t>
            </a:r>
          </a:p>
        </p:txBody>
      </p:sp>
      <p:sp>
        <p:nvSpPr>
          <p:cNvPr id="5" name="TextBox 4"/>
          <p:cNvSpPr txBox="1"/>
          <p:nvPr/>
        </p:nvSpPr>
        <p:spPr>
          <a:xfrm>
            <a:off x="1417320" y="2395728"/>
            <a:ext cx="2377440" cy="548640"/>
          </a:xfrm>
          <a:prstGeom prst="rect">
            <a:avLst/>
          </a:prstGeom>
          <a:noFill/>
        </p:spPr>
        <p:txBody>
          <a:bodyPr wrap="square" lIns="0" tIns="0" rIns="0" bIns="0" anchor="t">
            <a:spAutoFit/>
          </a:bodyPr>
          <a:lstStyle/>
          <a:p>
            <a:pPr algn="ctr">
              <a:lnSpc>
                <a:spcPct val="125000"/>
              </a:lnSpc>
            </a:pPr>
            <a:r>
              <a:rPr sz="3000" b="1" spc="-60">
                <a:solidFill>
                  <a:srgbClr val="0B0D12"/>
                </a:solidFill>
                <a:latin typeface="Segoe UI"/>
              </a:rPr>
              <a:t>TRY</a:t>
            </a:r>
          </a:p>
        </p:txBody>
      </p:sp>
      <p:sp>
        <p:nvSpPr>
          <p:cNvPr id="6" name="Right Arrow 5"/>
          <p:cNvSpPr/>
          <p:nvPr/>
        </p:nvSpPr>
        <p:spPr>
          <a:xfrm>
            <a:off x="3904488" y="2542032"/>
            <a:ext cx="384048" cy="219456"/>
          </a:xfrm>
          <a:prstGeom prst="right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34840" y="2395728"/>
            <a:ext cx="2377440" cy="548640"/>
          </a:xfrm>
          <a:prstGeom prst="rect">
            <a:avLst/>
          </a:prstGeom>
          <a:noFill/>
        </p:spPr>
        <p:txBody>
          <a:bodyPr wrap="square" lIns="0" tIns="0" rIns="0" bIns="0" anchor="t">
            <a:spAutoFit/>
          </a:bodyPr>
          <a:lstStyle/>
          <a:p>
            <a:pPr algn="ctr">
              <a:lnSpc>
                <a:spcPct val="125000"/>
              </a:lnSpc>
            </a:pPr>
            <a:r>
              <a:rPr sz="3000" b="1" spc="-60">
                <a:solidFill>
                  <a:srgbClr val="0B0D12"/>
                </a:solidFill>
                <a:latin typeface="Segoe UI"/>
              </a:rPr>
              <a:t>LEARN</a:t>
            </a:r>
          </a:p>
        </p:txBody>
      </p:sp>
      <p:sp>
        <p:nvSpPr>
          <p:cNvPr id="8" name="Right Arrow 7"/>
          <p:cNvSpPr/>
          <p:nvPr/>
        </p:nvSpPr>
        <p:spPr>
          <a:xfrm>
            <a:off x="6922008" y="2542032"/>
            <a:ext cx="384048" cy="219456"/>
          </a:xfrm>
          <a:prstGeom prst="right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52359" y="2395728"/>
            <a:ext cx="2377440" cy="548640"/>
          </a:xfrm>
          <a:prstGeom prst="rect">
            <a:avLst/>
          </a:prstGeom>
          <a:noFill/>
        </p:spPr>
        <p:txBody>
          <a:bodyPr wrap="square" lIns="0" tIns="0" rIns="0" bIns="0" anchor="t">
            <a:spAutoFit/>
          </a:bodyPr>
          <a:lstStyle/>
          <a:p>
            <a:pPr algn="ctr">
              <a:lnSpc>
                <a:spcPct val="125000"/>
              </a:lnSpc>
            </a:pPr>
            <a:r>
              <a:rPr sz="3000" b="1" spc="-60">
                <a:solidFill>
                  <a:srgbClr val="1F5BD1"/>
                </a:solidFill>
                <a:latin typeface="Segoe UI"/>
              </a:rPr>
              <a:t>ADAPT</a:t>
            </a:r>
          </a:p>
        </p:txBody>
      </p:sp>
      <p:sp>
        <p:nvSpPr>
          <p:cNvPr id="10" name="Rounded Rectangle 9"/>
          <p:cNvSpPr/>
          <p:nvPr/>
        </p:nvSpPr>
        <p:spPr>
          <a:xfrm>
            <a:off x="1417320" y="3611880"/>
            <a:ext cx="4069080" cy="1371600"/>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55648" y="3858768"/>
            <a:ext cx="3474720" cy="320040"/>
          </a:xfrm>
          <a:prstGeom prst="rect">
            <a:avLst/>
          </a:prstGeom>
          <a:noFill/>
        </p:spPr>
        <p:txBody>
          <a:bodyPr wrap="square" lIns="0" tIns="0" rIns="0" bIns="0" anchor="t">
            <a:spAutoFit/>
          </a:bodyPr>
          <a:lstStyle/>
          <a:p>
            <a:pPr algn="l">
              <a:lnSpc>
                <a:spcPct val="125000"/>
              </a:lnSpc>
            </a:pPr>
            <a:r>
              <a:rPr sz="1500" b="0">
                <a:solidFill>
                  <a:srgbClr val="2B3039"/>
                </a:solidFill>
                <a:latin typeface="Segoe UI"/>
              </a:rPr>
              <a:t>“Your team is playing.”</a:t>
            </a:r>
          </a:p>
        </p:txBody>
      </p:sp>
      <p:sp>
        <p:nvSpPr>
          <p:cNvPr id="12" name="TextBox 11"/>
          <p:cNvSpPr txBox="1"/>
          <p:nvPr/>
        </p:nvSpPr>
        <p:spPr>
          <a:xfrm>
            <a:off x="1755648" y="4389120"/>
            <a:ext cx="3474720" cy="274320"/>
          </a:xfrm>
          <a:prstGeom prst="rect">
            <a:avLst/>
          </a:prstGeom>
          <a:noFill/>
        </p:spPr>
        <p:txBody>
          <a:bodyPr wrap="square" lIns="0" tIns="0" rIns="0" bIns="0" anchor="t">
            <a:spAutoFit/>
          </a:bodyPr>
          <a:lstStyle/>
          <a:p>
            <a:pPr algn="l">
              <a:lnSpc>
                <a:spcPct val="125000"/>
              </a:lnSpc>
            </a:pPr>
            <a:r>
              <a:rPr sz="1250" b="1">
                <a:solidFill>
                  <a:srgbClr val="A3A9B4"/>
                </a:solidFill>
                <a:latin typeface="Segoe UI"/>
              </a:rPr>
              <a:t>Ignored</a:t>
            </a:r>
          </a:p>
        </p:txBody>
      </p:sp>
      <p:sp>
        <p:nvSpPr>
          <p:cNvPr id="13" name="Right Arrow 12"/>
          <p:cNvSpPr/>
          <p:nvPr/>
        </p:nvSpPr>
        <p:spPr>
          <a:xfrm>
            <a:off x="5742432" y="4187952"/>
            <a:ext cx="548640" cy="237744"/>
          </a:xfrm>
          <a:prstGeom prst="rightArrow">
            <a:avLst/>
          </a:prstGeom>
          <a:solidFill>
            <a:srgbClr val="1F5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693408" y="3611880"/>
            <a:ext cx="4069080" cy="1371600"/>
          </a:xfrm>
          <a:prstGeom prst="roundRect">
            <a:avLst>
              <a:gd name="adj" fmla="val 10000"/>
            </a:avLst>
          </a:prstGeom>
          <a:solidFill>
            <a:srgbClr val="E9F0FD"/>
          </a:solidFill>
          <a:ln w="12700">
            <a:solidFill>
              <a:srgbClr val="C5D8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31736" y="3858768"/>
            <a:ext cx="3474720" cy="320040"/>
          </a:xfrm>
          <a:prstGeom prst="rect">
            <a:avLst/>
          </a:prstGeom>
          <a:noFill/>
        </p:spPr>
        <p:txBody>
          <a:bodyPr wrap="square" lIns="0" tIns="0" rIns="0" bIns="0" anchor="t">
            <a:spAutoFit/>
          </a:bodyPr>
          <a:lstStyle/>
          <a:p>
            <a:pPr algn="l">
              <a:lnSpc>
                <a:spcPct val="125000"/>
              </a:lnSpc>
            </a:pPr>
            <a:r>
              <a:rPr sz="1500" b="1">
                <a:solidFill>
                  <a:srgbClr val="0B0D12"/>
                </a:solidFill>
                <a:latin typeface="Segoe UI"/>
              </a:rPr>
              <a:t>“Hajduk kick off in 20 min.”</a:t>
            </a:r>
          </a:p>
        </p:txBody>
      </p:sp>
      <p:sp>
        <p:nvSpPr>
          <p:cNvPr id="16" name="TextBox 15"/>
          <p:cNvSpPr txBox="1"/>
          <p:nvPr/>
        </p:nvSpPr>
        <p:spPr>
          <a:xfrm>
            <a:off x="7031736" y="4389120"/>
            <a:ext cx="3474720" cy="274320"/>
          </a:xfrm>
          <a:prstGeom prst="rect">
            <a:avLst/>
          </a:prstGeom>
          <a:noFill/>
        </p:spPr>
        <p:txBody>
          <a:bodyPr wrap="square" lIns="0" tIns="0" rIns="0" bIns="0" anchor="t">
            <a:spAutoFit/>
          </a:bodyPr>
          <a:lstStyle/>
          <a:p>
            <a:pPr algn="l">
              <a:lnSpc>
                <a:spcPct val="125000"/>
              </a:lnSpc>
            </a:pPr>
            <a:r>
              <a:rPr sz="1250" b="1">
                <a:solidFill>
                  <a:srgbClr val="1F5BD1"/>
                </a:solidFill>
                <a:latin typeface="Segoe UI"/>
              </a:rPr>
              <a:t>Opened</a:t>
            </a:r>
          </a:p>
        </p:txBody>
      </p:sp>
      <p:sp>
        <p:nvSpPr>
          <p:cNvPr id="17" name="TextBox 16"/>
          <p:cNvSpPr txBox="1"/>
          <p:nvPr/>
        </p:nvSpPr>
        <p:spPr>
          <a:xfrm>
            <a:off x="868680" y="5413248"/>
            <a:ext cx="10515600" cy="365760"/>
          </a:xfrm>
          <a:prstGeom prst="rect">
            <a:avLst/>
          </a:prstGeom>
          <a:noFill/>
        </p:spPr>
        <p:txBody>
          <a:bodyPr wrap="square" lIns="0" tIns="0" rIns="0" bIns="0" anchor="t">
            <a:spAutoFit/>
          </a:bodyPr>
          <a:lstStyle/>
          <a:p>
            <a:pPr algn="l">
              <a:lnSpc>
                <a:spcPct val="125000"/>
              </a:lnSpc>
            </a:pPr>
            <a:r>
              <a:rPr sz="1500" b="0">
                <a:solidFill>
                  <a:srgbClr val="6B7280"/>
                </a:solidFill>
                <a:latin typeface="Segoe UI"/>
              </a:rPr>
              <a:t>Every reaction — opened, ignored, muted — retrains the next message. On the phone.</a:t>
            </a:r>
          </a:p>
        </p:txBody>
      </p:sp>
      <p:sp>
        <p:nvSpPr>
          <p:cNvPr id="18" name="TextBox 17"/>
          <p:cNvSpPr txBox="1"/>
          <p:nvPr/>
        </p:nvSpPr>
        <p:spPr>
          <a:xfrm>
            <a:off x="868680" y="5961888"/>
            <a:ext cx="10515600" cy="365760"/>
          </a:xfrm>
          <a:prstGeom prst="rect">
            <a:avLst/>
          </a:prstGeom>
          <a:noFill/>
        </p:spPr>
        <p:txBody>
          <a:bodyPr wrap="square" lIns="0" tIns="0" rIns="0" bIns="0" anchor="t">
            <a:spAutoFit/>
          </a:bodyPr>
          <a:lstStyle/>
          <a:p>
            <a:pPr algn="l">
              <a:lnSpc>
                <a:spcPct val="125000"/>
              </a:lnSpc>
            </a:pPr>
            <a:r>
              <a:rPr sz="1600" b="1">
                <a:solidFill>
                  <a:srgbClr val="0B0D12"/>
                </a:solidFill>
                <a:latin typeface="Segoe UI"/>
              </a:rPr>
              <a:t>And staying silent counts as a win.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10" presetClass="entr" presetSubtype="0" fill="hold" nodeType="afterEffect">
                                  <p:stCondLst>
                                    <p:cond delay="1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nodeType="afterEffect">
                                  <p:stCondLst>
                                    <p:cond delay="1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nodeType="afterEffect">
                                  <p:stCondLst>
                                    <p:cond delay="1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par>
                                <p:cTn id="22" presetID="10" presetClass="entr" presetSubtype="0" fill="hold" nodeType="afterEffect">
                                  <p:stCondLst>
                                    <p:cond delay="1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nodeType="afterEffect">
                                  <p:stCondLst>
                                    <p:cond delay="12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00"/>
                                        <p:tgtEl>
                                          <p:spTgt spid="14"/>
                                        </p:tgtEl>
                                      </p:cBhvr>
                                    </p:animEffect>
                                  </p:childTnLst>
                                </p:cTn>
                              </p:par>
                              <p:par>
                                <p:cTn id="48" presetID="10" presetClass="entr" presetSubtype="0" fill="hold" nodeType="afterEffect">
                                  <p:stCondLst>
                                    <p:cond delay="12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4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4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TWO MORE REASONS TO COME BACK</a:t>
            </a:r>
          </a:p>
        </p:txBody>
      </p:sp>
      <p:sp>
        <p:nvSpPr>
          <p:cNvPr id="4" name="Rectangle 3"/>
          <p:cNvSpPr/>
          <p:nvPr/>
        </p:nvSpPr>
        <p:spPr>
          <a:xfrm>
            <a:off x="6053328" y="960120"/>
            <a:ext cx="12700" cy="5074920"/>
          </a:xfrm>
          <a:prstGeom prst="rect">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960120"/>
            <a:ext cx="4754880" cy="822960"/>
          </a:xfrm>
          <a:prstGeom prst="rect">
            <a:avLst/>
          </a:prstGeom>
          <a:noFill/>
        </p:spPr>
        <p:txBody>
          <a:bodyPr wrap="square" lIns="0" tIns="0" rIns="0" bIns="0" anchor="t">
            <a:spAutoFit/>
          </a:bodyPr>
          <a:lstStyle/>
          <a:p>
            <a:pPr algn="l">
              <a:lnSpc>
                <a:spcPct val="110000"/>
              </a:lnSpc>
            </a:pPr>
            <a:r>
              <a:rPr sz="2600" b="1" spc="-70">
                <a:solidFill>
                  <a:srgbClr val="0B0D12"/>
                </a:solidFill>
                <a:latin typeface="Segoe UI"/>
              </a:rPr>
              <a:t>TURN ATTENTION</a:t>
            </a:r>
          </a:p>
          <a:p>
            <a:pPr algn="l">
              <a:lnSpc>
                <a:spcPct val="110000"/>
              </a:lnSpc>
            </a:pPr>
            <a:r>
              <a:rPr sz="2600" b="1" spc="-70">
                <a:solidFill>
                  <a:srgbClr val="0B0D12"/>
                </a:solidFill>
                <a:latin typeface="Segoe UI"/>
              </a:rPr>
              <a:t>INTO PROGRESS.</a:t>
            </a:r>
          </a:p>
        </p:txBody>
      </p:sp>
      <p:sp>
        <p:nvSpPr>
          <p:cNvPr id="6" name="Rounded Rectangle 5"/>
          <p:cNvSpPr/>
          <p:nvPr/>
        </p:nvSpPr>
        <p:spPr>
          <a:xfrm>
            <a:off x="868680" y="2395728"/>
            <a:ext cx="4754880" cy="603504"/>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587752"/>
            <a:ext cx="4114800" cy="274320"/>
          </a:xfrm>
          <a:prstGeom prst="rect">
            <a:avLst/>
          </a:prstGeom>
          <a:noFill/>
        </p:spPr>
        <p:txBody>
          <a:bodyPr wrap="square" lIns="0" tIns="0" rIns="0" bIns="0" anchor="t">
            <a:spAutoFit/>
          </a:bodyPr>
          <a:lstStyle/>
          <a:p>
            <a:pPr algn="l">
              <a:lnSpc>
                <a:spcPct val="125000"/>
              </a:lnSpc>
            </a:pPr>
            <a:r>
              <a:rPr sz="1400" b="0">
                <a:solidFill>
                  <a:srgbClr val="2B3039"/>
                </a:solidFill>
                <a:latin typeface="Segoe UI"/>
              </a:rPr>
              <a:t>Follow three teams</a:t>
            </a:r>
          </a:p>
        </p:txBody>
      </p:sp>
      <p:sp>
        <p:nvSpPr>
          <p:cNvPr id="8" name="Down Arrow 7"/>
          <p:cNvSpPr/>
          <p:nvPr/>
        </p:nvSpPr>
        <p:spPr>
          <a:xfrm>
            <a:off x="3127248" y="3072384"/>
            <a:ext cx="219456" cy="182880"/>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3218688"/>
            <a:ext cx="4754880" cy="603504"/>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8" y="3410712"/>
            <a:ext cx="4114800" cy="274320"/>
          </a:xfrm>
          <a:prstGeom prst="rect">
            <a:avLst/>
          </a:prstGeom>
          <a:noFill/>
        </p:spPr>
        <p:txBody>
          <a:bodyPr wrap="square" lIns="0" tIns="0" rIns="0" bIns="0" anchor="t">
            <a:spAutoFit/>
          </a:bodyPr>
          <a:lstStyle/>
          <a:p>
            <a:pPr algn="l">
              <a:lnSpc>
                <a:spcPct val="125000"/>
              </a:lnSpc>
            </a:pPr>
            <a:r>
              <a:rPr sz="1400" b="0">
                <a:solidFill>
                  <a:srgbClr val="2B3039"/>
                </a:solidFill>
                <a:latin typeface="Segoe UI"/>
              </a:rPr>
              <a:t>Badge</a:t>
            </a:r>
          </a:p>
        </p:txBody>
      </p:sp>
      <p:sp>
        <p:nvSpPr>
          <p:cNvPr id="11" name="Down Arrow 10"/>
          <p:cNvSpPr/>
          <p:nvPr/>
        </p:nvSpPr>
        <p:spPr>
          <a:xfrm>
            <a:off x="3127248" y="3895344"/>
            <a:ext cx="219456" cy="182880"/>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68680" y="4041648"/>
            <a:ext cx="4754880" cy="603504"/>
          </a:xfrm>
          <a:prstGeom prst="roundRect">
            <a:avLst>
              <a:gd name="adj" fmla="val 1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233672"/>
            <a:ext cx="4114800" cy="274320"/>
          </a:xfrm>
          <a:prstGeom prst="rect">
            <a:avLst/>
          </a:prstGeom>
          <a:noFill/>
        </p:spPr>
        <p:txBody>
          <a:bodyPr wrap="square" lIns="0" tIns="0" rIns="0" bIns="0" anchor="t">
            <a:spAutoFit/>
          </a:bodyPr>
          <a:lstStyle/>
          <a:p>
            <a:pPr algn="l">
              <a:lnSpc>
                <a:spcPct val="125000"/>
              </a:lnSpc>
            </a:pPr>
            <a:r>
              <a:rPr sz="1400" b="0">
                <a:solidFill>
                  <a:srgbClr val="2B3039"/>
                </a:solidFill>
                <a:latin typeface="Segoe UI"/>
              </a:rPr>
              <a:t>Level</a:t>
            </a:r>
          </a:p>
        </p:txBody>
      </p:sp>
      <p:sp>
        <p:nvSpPr>
          <p:cNvPr id="14" name="Down Arrow 13"/>
          <p:cNvSpPr/>
          <p:nvPr/>
        </p:nvSpPr>
        <p:spPr>
          <a:xfrm>
            <a:off x="3127248" y="4718304"/>
            <a:ext cx="219456" cy="182880"/>
          </a:xfrm>
          <a:prstGeom prst="downArrow">
            <a:avLst/>
          </a:prstGeom>
          <a:solidFill>
            <a:srgbClr val="A3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68680" y="4864608"/>
            <a:ext cx="4754880" cy="603504"/>
          </a:xfrm>
          <a:prstGeom prst="roundRect">
            <a:avLst>
              <a:gd name="adj" fmla="val 10000"/>
            </a:avLst>
          </a:prstGeom>
          <a:solidFill>
            <a:srgbClr val="E9F0FD"/>
          </a:solidFill>
          <a:ln w="12700">
            <a:solidFill>
              <a:srgbClr val="C5D8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5056632"/>
            <a:ext cx="4114800" cy="274320"/>
          </a:xfrm>
          <a:prstGeom prst="rect">
            <a:avLst/>
          </a:prstGeom>
          <a:noFill/>
        </p:spPr>
        <p:txBody>
          <a:bodyPr wrap="square" lIns="0" tIns="0" rIns="0" bIns="0" anchor="t">
            <a:spAutoFit/>
          </a:bodyPr>
          <a:lstStyle/>
          <a:p>
            <a:pPr algn="l">
              <a:lnSpc>
                <a:spcPct val="125000"/>
              </a:lnSpc>
            </a:pPr>
            <a:r>
              <a:rPr sz="1400" b="1">
                <a:solidFill>
                  <a:srgbClr val="1F5BD1"/>
                </a:solidFill>
                <a:latin typeface="Segoe UI"/>
              </a:rPr>
              <a:t>Perks</a:t>
            </a:r>
          </a:p>
        </p:txBody>
      </p:sp>
      <p:sp>
        <p:nvSpPr>
          <p:cNvPr id="17" name="TextBox 16"/>
          <p:cNvSpPr txBox="1"/>
          <p:nvPr/>
        </p:nvSpPr>
        <p:spPr>
          <a:xfrm>
            <a:off x="868680" y="5852160"/>
            <a:ext cx="4754880" cy="274320"/>
          </a:xfrm>
          <a:prstGeom prst="rect">
            <a:avLst/>
          </a:prstGeom>
          <a:noFill/>
        </p:spPr>
        <p:txBody>
          <a:bodyPr wrap="square" lIns="0" tIns="0" rIns="0" bIns="0" anchor="t">
            <a:spAutoFit/>
          </a:bodyPr>
          <a:lstStyle/>
          <a:p>
            <a:pPr algn="l">
              <a:lnSpc>
                <a:spcPct val="125000"/>
              </a:lnSpc>
            </a:pPr>
            <a:r>
              <a:rPr sz="1300" b="0">
                <a:solidFill>
                  <a:srgbClr val="6B7280"/>
                </a:solidFill>
                <a:latin typeface="Segoe UI"/>
              </a:rPr>
              <a:t>No mission asks for a stake.</a:t>
            </a:r>
          </a:p>
        </p:txBody>
      </p:sp>
      <p:sp>
        <p:nvSpPr>
          <p:cNvPr id="18" name="TextBox 17"/>
          <p:cNvSpPr txBox="1"/>
          <p:nvPr/>
        </p:nvSpPr>
        <p:spPr>
          <a:xfrm>
            <a:off x="6537960" y="960120"/>
            <a:ext cx="4846320" cy="822960"/>
          </a:xfrm>
          <a:prstGeom prst="rect">
            <a:avLst/>
          </a:prstGeom>
          <a:noFill/>
        </p:spPr>
        <p:txBody>
          <a:bodyPr wrap="square" lIns="0" tIns="0" rIns="0" bIns="0" anchor="t">
            <a:spAutoFit/>
          </a:bodyPr>
          <a:lstStyle/>
          <a:p>
            <a:pPr algn="l">
              <a:lnSpc>
                <a:spcPct val="110000"/>
              </a:lnSpc>
            </a:pPr>
            <a:r>
              <a:rPr sz="2600" b="1" spc="-70">
                <a:solidFill>
                  <a:srgbClr val="0B0D12"/>
                </a:solidFill>
                <a:latin typeface="Segoe UI"/>
              </a:rPr>
              <a:t>ONE SCAN.</a:t>
            </a:r>
          </a:p>
          <a:p>
            <a:pPr algn="l">
              <a:lnSpc>
                <a:spcPct val="110000"/>
              </a:lnSpc>
            </a:pPr>
            <a:r>
              <a:rPr sz="2600" b="1" spc="-70">
                <a:solidFill>
                  <a:srgbClr val="0B0D12"/>
                </a:solidFill>
                <a:latin typeface="Segoe UI"/>
              </a:rPr>
              <a:t>ONE MORE TOUCHPOINT.</a:t>
            </a:r>
          </a:p>
        </p:txBody>
      </p:sp>
      <p:pic>
        <p:nvPicPr>
          <p:cNvPr id="19" name="Picture 18" descr="scan.png"/>
          <p:cNvPicPr>
            <a:picLocks noChangeAspect="1"/>
          </p:cNvPicPr>
          <p:nvPr/>
        </p:nvPicPr>
        <p:blipFill>
          <a:blip r:embed="rId3"/>
          <a:stretch>
            <a:fillRect/>
          </a:stretch>
        </p:blipFill>
        <p:spPr>
          <a:xfrm>
            <a:off x="6327648" y="2395728"/>
            <a:ext cx="2103120" cy="3192520"/>
          </a:xfrm>
          <a:prstGeom prst="rect">
            <a:avLst/>
          </a:prstGeom>
        </p:spPr>
      </p:pic>
      <p:sp>
        <p:nvSpPr>
          <p:cNvPr id="20" name="Right Arrow 19"/>
          <p:cNvSpPr/>
          <p:nvPr/>
        </p:nvSpPr>
        <p:spPr>
          <a:xfrm>
            <a:off x="8549640" y="3703320"/>
            <a:ext cx="420624" cy="237744"/>
          </a:xfrm>
          <a:prstGeom prst="rightArrow">
            <a:avLst/>
          </a:prstGeom>
          <a:solidFill>
            <a:srgbClr val="1F5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lipwidget.png"/>
          <p:cNvPicPr>
            <a:picLocks noChangeAspect="1"/>
          </p:cNvPicPr>
          <p:nvPr/>
        </p:nvPicPr>
        <p:blipFill>
          <a:blip r:embed="rId4"/>
          <a:srcRect b="30000"/>
          <a:stretch>
            <a:fillRect/>
          </a:stretch>
        </p:blipFill>
        <p:spPr>
          <a:xfrm>
            <a:off x="9034272" y="2395728"/>
            <a:ext cx="2103120" cy="2784044"/>
          </a:xfrm>
          <a:prstGeom prst="rect">
            <a:avLst/>
          </a:prstGeom>
        </p:spPr>
      </p:pic>
      <p:sp>
        <p:nvSpPr>
          <p:cNvPr id="22" name="TextBox 21"/>
          <p:cNvSpPr txBox="1"/>
          <p:nvPr/>
        </p:nvSpPr>
        <p:spPr>
          <a:xfrm>
            <a:off x="6537960" y="5852160"/>
            <a:ext cx="4846320" cy="274320"/>
          </a:xfrm>
          <a:prstGeom prst="rect">
            <a:avLst/>
          </a:prstGeom>
          <a:noFill/>
        </p:spPr>
        <p:txBody>
          <a:bodyPr wrap="square" lIns="0" tIns="0" rIns="0" bIns="0" anchor="t">
            <a:spAutoFit/>
          </a:bodyPr>
          <a:lstStyle/>
          <a:p>
            <a:pPr algn="l">
              <a:lnSpc>
                <a:spcPct val="125000"/>
              </a:lnSpc>
            </a:pPr>
            <a:r>
              <a:rPr sz="1300" b="0">
                <a:solidFill>
                  <a:srgbClr val="6B7280"/>
                </a:solidFill>
                <a:latin typeface="Segoe UI"/>
              </a:rPr>
              <a:t>From the shop counter to a surface that stays.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nodeType="afterEffect">
                                  <p:stCondLst>
                                    <p:cond delay="11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nodeType="afterEffect">
                                  <p:stCondLst>
                                    <p:cond delay="11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afterEffect">
                                  <p:stCondLst>
                                    <p:cond delay="11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nodeType="afterEffect">
                                  <p:stCondLst>
                                    <p:cond delay="11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nodeType="afterEffect">
                                  <p:stCondLst>
                                    <p:cond delay="11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nodeType="afterEffect">
                                  <p:stCondLst>
                                    <p:cond delay="11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afterEffect">
                                  <p:stCondLst>
                                    <p:cond delay="11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4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childTnLst>
                                </p:cTn>
                              </p:par>
                              <p:par>
                                <p:cTn id="69" presetID="10" presetClass="entr" presetSubtype="0" fill="hold" nodeType="afterEffect">
                                  <p:stCondLst>
                                    <p:cond delay="11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4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475488"/>
            <a:ext cx="8229600" cy="274320"/>
          </a:xfrm>
          <a:prstGeom prst="rect">
            <a:avLst/>
          </a:prstGeom>
          <a:noFill/>
        </p:spPr>
        <p:txBody>
          <a:bodyPr wrap="square" lIns="0" tIns="0" rIns="0" bIns="0" anchor="t">
            <a:spAutoFit/>
          </a:bodyPr>
          <a:lstStyle/>
          <a:p>
            <a:pPr algn="l">
              <a:lnSpc>
                <a:spcPct val="125000"/>
              </a:lnSpc>
            </a:pPr>
            <a:r>
              <a:rPr sz="1050" b="1" spc="190">
                <a:solidFill>
                  <a:srgbClr val="1F5BD1"/>
                </a:solidFill>
                <a:latin typeface="Segoe UI"/>
              </a:rPr>
              <a:t>IMPACT</a:t>
            </a:r>
          </a:p>
        </p:txBody>
      </p:sp>
      <p:sp>
        <p:nvSpPr>
          <p:cNvPr id="4" name="TextBox 3"/>
          <p:cNvSpPr txBox="1"/>
          <p:nvPr/>
        </p:nvSpPr>
        <p:spPr>
          <a:xfrm>
            <a:off x="868680" y="960120"/>
            <a:ext cx="10515600" cy="2743200"/>
          </a:xfrm>
          <a:prstGeom prst="rect">
            <a:avLst/>
          </a:prstGeom>
          <a:noFill/>
        </p:spPr>
        <p:txBody>
          <a:bodyPr wrap="square" lIns="0" tIns="0" rIns="0" bIns="0" anchor="t">
            <a:spAutoFit/>
          </a:bodyPr>
          <a:lstStyle/>
          <a:p>
            <a:pPr algn="l">
              <a:lnSpc>
                <a:spcPct val="106000"/>
              </a:lnSpc>
            </a:pPr>
            <a:r>
              <a:rPr sz="3800" b="1" spc="-110">
                <a:solidFill>
                  <a:srgbClr val="0B0D12"/>
                </a:solidFill>
                <a:latin typeface="Segoe UI"/>
              </a:rPr>
              <a:t>SMALLER DISTANCE.</a:t>
            </a:r>
          </a:p>
          <a:p>
            <a:pPr algn="l">
              <a:lnSpc>
                <a:spcPct val="106000"/>
              </a:lnSpc>
            </a:pPr>
            <a:r>
              <a:rPr sz="3800" b="1" spc="-110">
                <a:solidFill>
                  <a:srgbClr val="0B0D12"/>
                </a:solidFill>
                <a:latin typeface="Segoe UI"/>
              </a:rPr>
              <a:t>MORE RETURNS.</a:t>
            </a:r>
          </a:p>
        </p:txBody>
      </p:sp>
      <p:sp>
        <p:nvSpPr>
          <p:cNvPr id="5" name="Rounded Rectangle 4"/>
          <p:cNvSpPr/>
          <p:nvPr/>
        </p:nvSpPr>
        <p:spPr>
          <a:xfrm>
            <a:off x="868680" y="2487168"/>
            <a:ext cx="3401568" cy="1874519"/>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97864" y="2788920"/>
            <a:ext cx="2834640" cy="548640"/>
          </a:xfrm>
          <a:prstGeom prst="rect">
            <a:avLst/>
          </a:prstGeom>
          <a:noFill/>
        </p:spPr>
        <p:txBody>
          <a:bodyPr wrap="square" lIns="0" tIns="0" rIns="0" bIns="0" anchor="t">
            <a:spAutoFit/>
          </a:bodyPr>
          <a:lstStyle/>
          <a:p>
            <a:pPr algn="l">
              <a:lnSpc>
                <a:spcPct val="125000"/>
              </a:lnSpc>
            </a:pPr>
            <a:r>
              <a:rPr sz="3400" b="1" spc="-100">
                <a:solidFill>
                  <a:srgbClr val="1F5BD1"/>
                </a:solidFill>
                <a:latin typeface="Segoe UI"/>
              </a:rPr>
              <a:t>+17%</a:t>
            </a:r>
          </a:p>
        </p:txBody>
      </p:sp>
      <p:sp>
        <p:nvSpPr>
          <p:cNvPr id="7" name="TextBox 6"/>
          <p:cNvSpPr txBox="1"/>
          <p:nvPr/>
        </p:nvSpPr>
        <p:spPr>
          <a:xfrm>
            <a:off x="1197864" y="3456432"/>
            <a:ext cx="2834640" cy="274320"/>
          </a:xfrm>
          <a:prstGeom prst="rect">
            <a:avLst/>
          </a:prstGeom>
          <a:noFill/>
        </p:spPr>
        <p:txBody>
          <a:bodyPr wrap="square" lIns="0" tIns="0" rIns="0" bIns="0" anchor="t">
            <a:spAutoFit/>
          </a:bodyPr>
          <a:lstStyle/>
          <a:p>
            <a:pPr algn="l">
              <a:lnSpc>
                <a:spcPct val="125000"/>
              </a:lnSpc>
            </a:pPr>
            <a:r>
              <a:rPr sz="1350" b="1">
                <a:solidFill>
                  <a:srgbClr val="0B0D12"/>
                </a:solidFill>
                <a:latin typeface="Segoe UI"/>
              </a:rPr>
              <a:t>Daily active users</a:t>
            </a:r>
          </a:p>
        </p:txBody>
      </p:sp>
      <p:sp>
        <p:nvSpPr>
          <p:cNvPr id="8" name="TextBox 7"/>
          <p:cNvSpPr txBox="1"/>
          <p:nvPr/>
        </p:nvSpPr>
        <p:spPr>
          <a:xfrm>
            <a:off x="1197864" y="3767328"/>
            <a:ext cx="2834640" cy="457200"/>
          </a:xfrm>
          <a:prstGeom prst="rect">
            <a:avLst/>
          </a:prstGeom>
          <a:noFill/>
        </p:spPr>
        <p:txBody>
          <a:bodyPr wrap="square" lIns="0" tIns="0" rIns="0" bIns="0" anchor="t">
            <a:spAutoFit/>
          </a:bodyPr>
          <a:lstStyle/>
          <a:p>
            <a:pPr algn="l">
              <a:lnSpc>
                <a:spcPct val="130000"/>
              </a:lnSpc>
            </a:pPr>
            <a:r>
              <a:rPr sz="1150" b="0">
                <a:solidFill>
                  <a:srgbClr val="6B7280"/>
                </a:solidFill>
                <a:latin typeface="Segoe UI"/>
              </a:rPr>
              <a:t>DAU/MAU 25% → 29.3%, base case</a:t>
            </a:r>
          </a:p>
        </p:txBody>
      </p:sp>
      <p:sp>
        <p:nvSpPr>
          <p:cNvPr id="9" name="Rounded Rectangle 8"/>
          <p:cNvSpPr/>
          <p:nvPr/>
        </p:nvSpPr>
        <p:spPr>
          <a:xfrm>
            <a:off x="4434840" y="2487168"/>
            <a:ext cx="3401568" cy="1874519"/>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64024" y="2788920"/>
            <a:ext cx="2834640" cy="548640"/>
          </a:xfrm>
          <a:prstGeom prst="rect">
            <a:avLst/>
          </a:prstGeom>
          <a:noFill/>
        </p:spPr>
        <p:txBody>
          <a:bodyPr wrap="square" lIns="0" tIns="0" rIns="0" bIns="0" anchor="t">
            <a:spAutoFit/>
          </a:bodyPr>
          <a:lstStyle/>
          <a:p>
            <a:pPr algn="l">
              <a:lnSpc>
                <a:spcPct val="125000"/>
              </a:lnSpc>
            </a:pPr>
            <a:r>
              <a:rPr sz="3400" b="1" spc="-100">
                <a:solidFill>
                  <a:srgbClr val="1F5BD1"/>
                </a:solidFill>
                <a:latin typeface="Segoe UI"/>
              </a:rPr>
              <a:t>4.6% → 20%</a:t>
            </a:r>
          </a:p>
        </p:txBody>
      </p:sp>
      <p:sp>
        <p:nvSpPr>
          <p:cNvPr id="11" name="TextBox 10"/>
          <p:cNvSpPr txBox="1"/>
          <p:nvPr/>
        </p:nvSpPr>
        <p:spPr>
          <a:xfrm>
            <a:off x="4764024" y="3456432"/>
            <a:ext cx="2834640" cy="274320"/>
          </a:xfrm>
          <a:prstGeom prst="rect">
            <a:avLst/>
          </a:prstGeom>
          <a:noFill/>
        </p:spPr>
        <p:txBody>
          <a:bodyPr wrap="square" lIns="0" tIns="0" rIns="0" bIns="0" anchor="t">
            <a:spAutoFit/>
          </a:bodyPr>
          <a:lstStyle/>
          <a:p>
            <a:pPr algn="l">
              <a:lnSpc>
                <a:spcPct val="125000"/>
              </a:lnSpc>
            </a:pPr>
            <a:r>
              <a:rPr sz="1350" b="1">
                <a:solidFill>
                  <a:srgbClr val="0B0D12"/>
                </a:solidFill>
                <a:latin typeface="Segoe UI"/>
              </a:rPr>
              <a:t>Notification to app open</a:t>
            </a:r>
          </a:p>
        </p:txBody>
      </p:sp>
      <p:sp>
        <p:nvSpPr>
          <p:cNvPr id="12" name="TextBox 11"/>
          <p:cNvSpPr txBox="1"/>
          <p:nvPr/>
        </p:nvSpPr>
        <p:spPr>
          <a:xfrm>
            <a:off x="4764024" y="3767328"/>
            <a:ext cx="2834640" cy="457200"/>
          </a:xfrm>
          <a:prstGeom prst="rect">
            <a:avLst/>
          </a:prstGeom>
          <a:noFill/>
        </p:spPr>
        <p:txBody>
          <a:bodyPr wrap="square" lIns="0" tIns="0" rIns="0" bIns="0" anchor="t">
            <a:spAutoFit/>
          </a:bodyPr>
          <a:lstStyle/>
          <a:p>
            <a:pPr algn="l">
              <a:lnSpc>
                <a:spcPct val="130000"/>
              </a:lnSpc>
            </a:pPr>
            <a:r>
              <a:rPr sz="1150" b="0">
                <a:solidFill>
                  <a:srgbClr val="6B7280"/>
                </a:solidFill>
                <a:latin typeface="Segoe UI"/>
              </a:rPr>
              <a:t>vs the Android push benchmark</a:t>
            </a:r>
          </a:p>
        </p:txBody>
      </p:sp>
      <p:sp>
        <p:nvSpPr>
          <p:cNvPr id="13" name="Rounded Rectangle 12"/>
          <p:cNvSpPr/>
          <p:nvPr/>
        </p:nvSpPr>
        <p:spPr>
          <a:xfrm>
            <a:off x="8001000" y="2487168"/>
            <a:ext cx="3401568" cy="1874519"/>
          </a:xfrm>
          <a:prstGeom prst="roundRect">
            <a:avLst>
              <a:gd name="adj" fmla="val 10000"/>
            </a:avLst>
          </a:prstGeom>
          <a:solidFill>
            <a:srgbClr val="FFFFFF"/>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0183" y="2788920"/>
            <a:ext cx="2834640" cy="548640"/>
          </a:xfrm>
          <a:prstGeom prst="rect">
            <a:avLst/>
          </a:prstGeom>
          <a:noFill/>
        </p:spPr>
        <p:txBody>
          <a:bodyPr wrap="square" lIns="0" tIns="0" rIns="0" bIns="0" anchor="t">
            <a:spAutoFit/>
          </a:bodyPr>
          <a:lstStyle/>
          <a:p>
            <a:pPr algn="l">
              <a:lnSpc>
                <a:spcPct val="125000"/>
              </a:lnSpc>
            </a:pPr>
            <a:r>
              <a:rPr sz="3400" b="1" spc="-100">
                <a:solidFill>
                  <a:srgbClr val="1F5BD1"/>
                </a:solidFill>
                <a:latin typeface="Segoe UI"/>
              </a:rPr>
              <a:t>12%</a:t>
            </a:r>
          </a:p>
        </p:txBody>
      </p:sp>
      <p:sp>
        <p:nvSpPr>
          <p:cNvPr id="15" name="TextBox 14"/>
          <p:cNvSpPr txBox="1"/>
          <p:nvPr/>
        </p:nvSpPr>
        <p:spPr>
          <a:xfrm>
            <a:off x="8330183" y="3456432"/>
            <a:ext cx="2834640" cy="274320"/>
          </a:xfrm>
          <a:prstGeom prst="rect">
            <a:avLst/>
          </a:prstGeom>
          <a:noFill/>
        </p:spPr>
        <p:txBody>
          <a:bodyPr wrap="square" lIns="0" tIns="0" rIns="0" bIns="0" anchor="t">
            <a:spAutoFit/>
          </a:bodyPr>
          <a:lstStyle/>
          <a:p>
            <a:pPr algn="l">
              <a:lnSpc>
                <a:spcPct val="125000"/>
              </a:lnSpc>
            </a:pPr>
            <a:r>
              <a:rPr sz="1350" b="1">
                <a:solidFill>
                  <a:srgbClr val="0B0D12"/>
                </a:solidFill>
                <a:latin typeface="Segoe UI"/>
              </a:rPr>
              <a:t>Widget adoption at 90 days</a:t>
            </a:r>
          </a:p>
        </p:txBody>
      </p:sp>
      <p:sp>
        <p:nvSpPr>
          <p:cNvPr id="16" name="TextBox 15"/>
          <p:cNvSpPr txBox="1"/>
          <p:nvPr/>
        </p:nvSpPr>
        <p:spPr>
          <a:xfrm>
            <a:off x="8330183" y="3767328"/>
            <a:ext cx="2834640" cy="457200"/>
          </a:xfrm>
          <a:prstGeom prst="rect">
            <a:avLst/>
          </a:prstGeom>
          <a:noFill/>
        </p:spPr>
        <p:txBody>
          <a:bodyPr wrap="square" lIns="0" tIns="0" rIns="0" bIns="0" anchor="t">
            <a:spAutoFit/>
          </a:bodyPr>
          <a:lstStyle/>
          <a:p>
            <a:pPr algn="l">
              <a:lnSpc>
                <a:spcPct val="130000"/>
              </a:lnSpc>
            </a:pPr>
            <a:r>
              <a:rPr sz="1150" b="0">
                <a:solidFill>
                  <a:srgbClr val="6B7280"/>
                </a:solidFill>
                <a:latin typeface="Segoe UI"/>
              </a:rPr>
              <a:t>of Android monthly actives</a:t>
            </a:r>
          </a:p>
        </p:txBody>
      </p:sp>
      <p:sp>
        <p:nvSpPr>
          <p:cNvPr id="17" name="Rounded Rectangle 16"/>
          <p:cNvSpPr/>
          <p:nvPr/>
        </p:nvSpPr>
        <p:spPr>
          <a:xfrm>
            <a:off x="868680" y="4617720"/>
            <a:ext cx="2148840" cy="384048"/>
          </a:xfrm>
          <a:prstGeom prst="roundRect">
            <a:avLst>
              <a:gd name="adj" fmla="val 50000"/>
            </a:avLst>
          </a:prstGeom>
          <a:solidFill>
            <a:srgbClr val="F6F7F9"/>
          </a:solidFill>
          <a:ln w="12700">
            <a:solidFill>
              <a:srgbClr val="E3E6EB"/>
            </a:solidFill>
          </a:ln>
          <a:effectLst/>
        </p:spPr>
        <p:style>
          <a:lnRef idx="1">
            <a:schemeClr val="accent1"/>
          </a:lnRef>
          <a:fillRef idx="3">
            <a:schemeClr val="accent1"/>
          </a:fillRef>
          <a:effectRef idx="2">
            <a:schemeClr val="accent1"/>
          </a:effectRef>
          <a:fontRef idx="minor">
            <a:schemeClr val="lt1"/>
          </a:fontRef>
        </p:style>
        <p:txBody>
          <a:bodyPr wrap="square" lIns="76200" tIns="0" rIns="76200" bIns="0" rtlCol="0" anchor="ctr"/>
          <a:lstStyle/>
          <a:p>
            <a:pPr algn="ctr"/>
            <a:r>
              <a:rPr sz="950" b="1">
                <a:solidFill>
                  <a:srgbClr val="6B7280"/>
                </a:solidFill>
                <a:latin typeface="Segoe UI"/>
              </a:rPr>
              <a:t>ILLUSTRATIVE ESTIMATE</a:t>
            </a:r>
          </a:p>
        </p:txBody>
      </p:sp>
      <p:sp>
        <p:nvSpPr>
          <p:cNvPr id="18" name="TextBox 17"/>
          <p:cNvSpPr txBox="1"/>
          <p:nvPr/>
        </p:nvSpPr>
        <p:spPr>
          <a:xfrm>
            <a:off x="3246120" y="4681728"/>
            <a:ext cx="8138160" cy="274320"/>
          </a:xfrm>
          <a:prstGeom prst="rect">
            <a:avLst/>
          </a:prstGeom>
          <a:noFill/>
        </p:spPr>
        <p:txBody>
          <a:bodyPr wrap="square" lIns="0" tIns="0" rIns="0" bIns="0" anchor="t">
            <a:spAutoFit/>
          </a:bodyPr>
          <a:lstStyle/>
          <a:p>
            <a:pPr algn="l">
              <a:lnSpc>
                <a:spcPct val="125000"/>
              </a:lnSpc>
            </a:pPr>
            <a:r>
              <a:rPr sz="1300" b="0">
                <a:solidFill>
                  <a:srgbClr val="6B7280"/>
                </a:solidFill>
                <a:latin typeface="Segoe UI"/>
              </a:rPr>
              <a:t>Relevance  →  engagement  →  retention  →  business value</a:t>
            </a:r>
          </a:p>
        </p:txBody>
      </p:sp>
      <p:sp>
        <p:nvSpPr>
          <p:cNvPr id="19" name="Rectangle 18"/>
          <p:cNvSpPr/>
          <p:nvPr/>
        </p:nvSpPr>
        <p:spPr>
          <a:xfrm>
            <a:off x="868680" y="5376672"/>
            <a:ext cx="10469880" cy="12700"/>
          </a:xfrm>
          <a:prstGeom prst="rect">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650992"/>
            <a:ext cx="10515600" cy="914400"/>
          </a:xfrm>
          <a:prstGeom prst="rect">
            <a:avLst/>
          </a:prstGeom>
          <a:noFill/>
        </p:spPr>
        <p:txBody>
          <a:bodyPr wrap="square" lIns="0" tIns="0" rIns="0" bIns="0" anchor="t">
            <a:spAutoFit/>
          </a:bodyPr>
          <a:lstStyle/>
          <a:p>
            <a:pPr algn="l">
              <a:lnSpc>
                <a:spcPct val="114000"/>
              </a:lnSpc>
            </a:pPr>
            <a:r>
              <a:rPr sz="2500" b="1" spc="-70" dirty="0">
                <a:solidFill>
                  <a:srgbClr val="0B0D12"/>
                </a:solidFill>
                <a:latin typeface="Segoe UI"/>
              </a:rPr>
              <a:t>DON'T WAIT FOR THEM TO OPEN THE APP.</a:t>
            </a:r>
          </a:p>
          <a:p>
            <a:pPr algn="l">
              <a:lnSpc>
                <a:spcPct val="114000"/>
              </a:lnSpc>
            </a:pPr>
            <a:r>
              <a:rPr sz="2500" b="1" spc="-70" dirty="0">
                <a:solidFill>
                  <a:srgbClr val="0B0D12"/>
                </a:solidFill>
                <a:latin typeface="Segoe UI"/>
              </a:rPr>
              <a:t>GIVE THEM A REASON TO COME BACK.</a:t>
            </a:r>
          </a:p>
        </p:txBody>
      </p:sp>
      <p:sp>
        <p:nvSpPr>
          <p:cNvPr id="21" name="TextBox 20">
            <a:extLst>
              <a:ext uri="{FF2B5EF4-FFF2-40B4-BE49-F238E27FC236}">
                <a16:creationId xmlns:a16="http://schemas.microsoft.com/office/drawing/2014/main" id="{30DDBEEA-F97D-80E9-3427-E0678D3A69A2}"/>
              </a:ext>
            </a:extLst>
          </p:cNvPr>
          <p:cNvSpPr txBox="1"/>
          <p:nvPr/>
        </p:nvSpPr>
        <p:spPr>
          <a:xfrm>
            <a:off x="5038244" y="269207"/>
            <a:ext cx="6970709" cy="401520"/>
          </a:xfrm>
          <a:prstGeom prst="rect">
            <a:avLst/>
          </a:prstGeom>
          <a:noFill/>
        </p:spPr>
        <p:txBody>
          <a:bodyPr wrap="square" lIns="0" tIns="0" rIns="0" bIns="0" anchor="t">
            <a:spAutoFit/>
          </a:bodyPr>
          <a:lstStyle/>
          <a:p>
            <a:pPr algn="l">
              <a:lnSpc>
                <a:spcPct val="114000"/>
              </a:lnSpc>
            </a:pPr>
            <a:r>
              <a:rPr lang="en-IN" sz="2500" b="1" spc="-70" dirty="0">
                <a:solidFill>
                  <a:srgbClr val="0B0D12"/>
                </a:solidFill>
                <a:latin typeface="Segoe UI"/>
              </a:rPr>
              <a:t>Demo Video Link : </a:t>
            </a:r>
            <a:r>
              <a:rPr lang="en-IN" sz="2500" b="1" spc="-70" dirty="0">
                <a:solidFill>
                  <a:srgbClr val="0B0D12"/>
                </a:solidFill>
                <a:latin typeface="Segoe UI"/>
                <a:hlinkClick r:id="rId3"/>
              </a:rPr>
              <a:t>https://youtu.be/aLRzElPIAgY</a:t>
            </a:r>
            <a:endParaRPr sz="2500" b="1" spc="-70" dirty="0">
              <a:solidFill>
                <a:srgbClr val="0B0D12"/>
              </a:solidFill>
              <a:latin typeface="Segoe U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20"/>
                                        <p:tgtEl>
                                          <p:spTgt spid="5"/>
                                        </p:tgtEl>
                                      </p:cBhvr>
                                    </p:animEffect>
                                  </p:childTnLst>
                                </p:cTn>
                              </p:par>
                              <p:par>
                                <p:cTn id="13" presetID="10" presetClass="entr" presetSubtype="0" fill="hold" nodeType="afterEffect">
                                  <p:stCondLst>
                                    <p:cond delay="1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childTnLst>
                                </p:cTn>
                              </p:par>
                              <p:par>
                                <p:cTn id="16" presetID="10" presetClass="entr" presetSubtype="0" fill="hold" nodeType="afterEffect">
                                  <p:stCondLst>
                                    <p:cond delay="1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20"/>
                                        <p:tgtEl>
                                          <p:spTgt spid="7"/>
                                        </p:tgtEl>
                                      </p:cBhvr>
                                    </p:animEffect>
                                  </p:childTnLst>
                                </p:cTn>
                              </p:par>
                              <p:par>
                                <p:cTn id="19" presetID="10" presetClass="entr" presetSubtype="0" fill="hold" nodeType="afterEffect">
                                  <p:stCondLst>
                                    <p:cond delay="1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2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20"/>
                                        <p:tgtEl>
                                          <p:spTgt spid="9"/>
                                        </p:tgtEl>
                                      </p:cBhvr>
                                    </p:animEffect>
                                  </p:childTnLst>
                                </p:cTn>
                              </p:par>
                              <p:par>
                                <p:cTn id="27" presetID="10" presetClass="entr" presetSubtype="0" fill="hold" nodeType="afterEffect">
                                  <p:stCondLst>
                                    <p:cond delay="12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20"/>
                                        <p:tgtEl>
                                          <p:spTgt spid="10"/>
                                        </p:tgtEl>
                                      </p:cBhvr>
                                    </p:animEffect>
                                  </p:childTnLst>
                                </p:cTn>
                              </p:par>
                              <p:par>
                                <p:cTn id="30" presetID="10" presetClass="entr" presetSubtype="0" fill="hold" nodeType="afterEffect">
                                  <p:stCondLst>
                                    <p:cond delay="12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20"/>
                                        <p:tgtEl>
                                          <p:spTgt spid="11"/>
                                        </p:tgtEl>
                                      </p:cBhvr>
                                    </p:animEffect>
                                  </p:childTnLst>
                                </p:cTn>
                              </p:par>
                              <p:par>
                                <p:cTn id="33" presetID="10" presetClass="entr" presetSubtype="0" fill="hold" nodeType="afterEffect">
                                  <p:stCondLst>
                                    <p:cond delay="12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2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20"/>
                                        <p:tgtEl>
                                          <p:spTgt spid="13"/>
                                        </p:tgtEl>
                                      </p:cBhvr>
                                    </p:animEffect>
                                  </p:childTnLst>
                                </p:cTn>
                              </p:par>
                              <p:par>
                                <p:cTn id="41" presetID="10" presetClass="entr" presetSubtype="0" fill="hold" nodeType="afterEffect">
                                  <p:stCondLst>
                                    <p:cond delay="12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20"/>
                                        <p:tgtEl>
                                          <p:spTgt spid="14"/>
                                        </p:tgtEl>
                                      </p:cBhvr>
                                    </p:animEffect>
                                  </p:childTnLst>
                                </p:cTn>
                              </p:par>
                              <p:par>
                                <p:cTn id="44" presetID="10" presetClass="entr" presetSubtype="0" fill="hold" nodeType="afterEffect">
                                  <p:stCondLst>
                                    <p:cond delay="12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20"/>
                                        <p:tgtEl>
                                          <p:spTgt spid="15"/>
                                        </p:tgtEl>
                                      </p:cBhvr>
                                    </p:animEffect>
                                  </p:childTnLst>
                                </p:cTn>
                              </p:par>
                              <p:par>
                                <p:cTn id="47" presetID="10" presetClass="entr" presetSubtype="0" fill="hold" nodeType="afterEffect">
                                  <p:stCondLst>
                                    <p:cond delay="12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20"/>
                                        <p:tgtEl>
                                          <p:spTgt spid="17"/>
                                        </p:tgtEl>
                                      </p:cBhvr>
                                    </p:animEffect>
                                  </p:childTnLst>
                                </p:cTn>
                              </p:par>
                              <p:par>
                                <p:cTn id="55" presetID="10" presetClass="entr" presetSubtype="0" fill="hold" nodeType="afterEffect">
                                  <p:stCondLst>
                                    <p:cond delay="12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2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2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2076</Words>
  <Application>Microsoft Office PowerPoint</Application>
  <PresentationFormat>Widescreen</PresentationFormat>
  <Paragraphs>201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Ashok suthar</dc:creator>
  <cp:keywords/>
  <dc:description>generated using python-pptx</dc:description>
  <cp:lastModifiedBy>Ashok suthar</cp:lastModifiedBy>
  <cp:revision>2</cp:revision>
  <dcterms:created xsi:type="dcterms:W3CDTF">2013-01-27T09:14:16Z</dcterms:created>
  <dcterms:modified xsi:type="dcterms:W3CDTF">2026-09-09T05:49:41Z</dcterms:modified>
  <cp:category/>
</cp:coreProperties>
</file>